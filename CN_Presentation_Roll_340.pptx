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Bebas Neue Cyrillic" charset="1" panose="02000506000000020004"/>
      <p:regular r:id="rId39"/>
    </p:embeddedFont>
    <p:embeddedFont>
      <p:font typeface="TT Drugs Bold Italics" charset="1" panose="02000803000000090003"/>
      <p:regular r:id="rId40"/>
    </p:embeddedFont>
    <p:embeddedFont>
      <p:font typeface="TT Drugs Bold" charset="1" panose="02000803060000020003"/>
      <p:regular r:id="rId41"/>
    </p:embeddedFont>
    <p:embeddedFont>
      <p:font typeface="Poppins" charset="1" panose="00000500000000000000"/>
      <p:regular r:id="rId42"/>
    </p:embeddedFont>
    <p:embeddedFont>
      <p:font typeface="Poppins Bold" charset="1" panose="00000800000000000000"/>
      <p:regular r:id="rId43"/>
    </p:embeddedFont>
    <p:embeddedFont>
      <p:font typeface="Inter" charset="1" panose="020005030000000200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485" y="3578856"/>
            <a:ext cx="13129030" cy="280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9"/>
              </a:lnSpc>
              <a:spcBef>
                <a:spcPct val="0"/>
              </a:spcBef>
            </a:pPr>
            <a:r>
              <a:rPr sz="16300">
                <a:solidFill>
                  <a:srgbClr val="00D29E"/>
                </a:solidFill>
                <a:latin typeface="Bebas Neue Cyrillic"/>
              </a:rPr>
              <a:t>COMPUTER NETWORKS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7194" y="352425"/>
            <a:ext cx="10304431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sz="2000" b="1">
                <a:solidFill>
                  <a:srgbClr val="FFFFFF"/>
                </a:solidFill>
                <a:latin typeface="TT Drugs Bold Italics"/>
              </a:rPr>
              <a:t>Course Title: Computer Networks Laboratory</a:t>
            </a:r>
          </a:p>
          <a:p>
            <a:r>
              <a:rPr sz="2000" b="1">
                <a:solidFill>
                  <a:srgbClr val="FFFFFF"/>
                </a:solidFill>
                <a:latin typeface="TT Drugs Bold Italics"/>
              </a:rPr>
              <a:t>Course Code: CSE-360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194" y="8602182"/>
            <a:ext cx="6301556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sz="2400" b="1">
                <a:solidFill>
                  <a:srgbClr val="FFFFFF"/>
                </a:solidFill>
                <a:latin typeface="TT Drugs Bold"/>
              </a:rPr>
              <a:t>PRESENTED BY: MD. TANJIM HOSSEN AHAD</a:t>
            </a:r>
          </a:p>
          <a:p>
            <a:r>
              <a:rPr sz="2400" b="1">
                <a:solidFill>
                  <a:srgbClr val="2DD4BF"/>
                </a:solidFill>
                <a:latin typeface="TT Drugs Bold"/>
              </a:rPr>
              <a:t>ROLL: 340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50630"/>
            <a:ext cx="16800845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1: Wireshark — Ethernet &amp; ARP Analysis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601885" y="2125911"/>
            <a:ext cx="13084230" cy="6583003"/>
          </a:xfrm>
          <a:custGeom>
            <a:avLst/>
            <a:gdLst/>
            <a:ahLst/>
            <a:cxnLst/>
            <a:rect r="r" b="b" t="t" l="l"/>
            <a:pathLst>
              <a:path h="6583003" w="13084230">
                <a:moveTo>
                  <a:pt x="0" y="0"/>
                </a:moveTo>
                <a:lnTo>
                  <a:pt x="13084230" y="0"/>
                </a:lnTo>
                <a:lnTo>
                  <a:pt x="13084230" y="6583004"/>
                </a:lnTo>
                <a:lnTo>
                  <a:pt x="0" y="6583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302699" y="259540"/>
            <a:ext cx="1153527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1. Capturing and Analyzing Ethernet Frames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4379" y="1225428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HTTP Request Inspection &amp; Link-Layer Encapsulation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8916556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Captured the client HTTP GET request directed to the remote web server. Crucially, Link-Layer encapsulation is verified: while the destination IP designates the target server, the Ethernet destination MAC address specifically targets the local default gateway router interface.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78874" y="1879505"/>
            <a:ext cx="11592436" cy="6527991"/>
          </a:xfrm>
          <a:custGeom>
            <a:avLst/>
            <a:gdLst/>
            <a:ahLst/>
            <a:cxnLst/>
            <a:rect r="r" b="b" t="t" l="l"/>
            <a:pathLst>
              <a:path h="6527991" w="11592436">
                <a:moveTo>
                  <a:pt x="0" y="0"/>
                </a:moveTo>
                <a:lnTo>
                  <a:pt x="11592436" y="0"/>
                </a:lnTo>
                <a:lnTo>
                  <a:pt x="11592436" y="6527990"/>
                </a:lnTo>
                <a:lnTo>
                  <a:pt x="0" y="6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03944" y="1125173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Subnet ARP Traffic Capture &amp; Broadcast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2. Address Resolution Protocol (ARP)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8962208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Filtered capture trace isolating ARP operations across the local link. Highlights ARP query frames transmitted as Link-Layer broadcasts (ff:ff:ff:ff:ff:ff), prompting all hosts on the subnet to check and map the requested IP to its physical MAC address.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478874" y="1879505"/>
            <a:ext cx="11592436" cy="6527991"/>
          </a:xfrm>
          <a:custGeom>
            <a:avLst/>
            <a:gdLst/>
            <a:ahLst/>
            <a:cxnLst/>
            <a:rect r="r" b="b" t="t" l="l"/>
            <a:pathLst>
              <a:path h="6527991" w="11592436">
                <a:moveTo>
                  <a:pt x="0" y="0"/>
                </a:moveTo>
                <a:lnTo>
                  <a:pt x="11592436" y="0"/>
                </a:lnTo>
                <a:lnTo>
                  <a:pt x="11592436" y="6527990"/>
                </a:lnTo>
                <a:lnTo>
                  <a:pt x="0" y="6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19162" y="114608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Internal Structure of ARP Request Frame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3. ARP Manipulation &amp; Timing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162" y="8867775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Detailed inspection of Packet 1 header fields: Opcode 1 (Request), sender hardware/IP address, and queried target IP (128.119.247.77). Hex pane correlates raw payload bytes against EtherType 0x0806, verifying Link-Layer protocol identification.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4664" y="4620195"/>
            <a:ext cx="15598672" cy="10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2: Introduction to Packet Tracer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302699" y="259540"/>
            <a:ext cx="955701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Expt-1: Basic Client-Server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4915" y="1111236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Part 1:</a:t>
            </a:r>
          </a:p>
          <a:p>
            <a:r>
              <a:rPr sz="2800" b="1">
                <a:solidFill>
                  <a:srgbClr val="0F766E"/>
                </a:solidFill>
                <a:latin typeface="TT Drugs Bold"/>
              </a:rPr>
              <a:t>Step 1: Ports and Cabling Setup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4915" y="2482835"/>
            <a:ext cx="4242244" cy="3970620"/>
            <a:chOff x="0" y="0"/>
            <a:chExt cx="5656326" cy="5294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56326" cy="5294122"/>
            </a:xfrm>
            <a:custGeom>
              <a:avLst/>
              <a:gdLst/>
              <a:ahLst/>
              <a:cxnLst/>
              <a:rect r="r" b="b" t="t" l="l"/>
              <a:pathLst>
                <a:path h="5294122" w="5656326">
                  <a:moveTo>
                    <a:pt x="0" y="0"/>
                  </a:moveTo>
                  <a:lnTo>
                    <a:pt x="5656326" y="0"/>
                  </a:lnTo>
                  <a:lnTo>
                    <a:pt x="5656326" y="5294122"/>
                  </a:lnTo>
                  <a:lnTo>
                    <a:pt x="0" y="529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3"/>
              </a:stretch>
            </a:blip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34915" y="6883993"/>
          <a:ext cx="4374852" cy="2524414"/>
        </p:xfrm>
        <a:graphic>
          <a:graphicData uri="http://schemas.openxmlformats.org/drawingml/2006/table">
            <a:tbl>
              <a:tblPr/>
              <a:tblGrid>
                <a:gridCol w="883622"/>
                <a:gridCol w="1752443"/>
                <a:gridCol w="1738787"/>
              </a:tblGrid>
              <a:tr h="6332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Device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IP Address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Subnet Mask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Server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192.168.0.105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255.255.255.0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6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Client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192.168.0.110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255.255.255.0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809768" y="3931508"/>
            <a:ext cx="4334232" cy="102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sz="1700" b="0">
                <a:solidFill>
                  <a:srgbClr val="0F172A"/>
                </a:solidFill>
                <a:latin typeface="Inter"/>
              </a:rPr>
              <a:t>Dashed lines denote Ethernet crossover cabling; active green link lights verify Layer-1/2 convergence.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3382" y="7826189"/>
            <a:ext cx="371232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700" b="0">
                <a:solidFill>
                  <a:srgbClr val="0F172A"/>
                </a:solidFill>
                <a:latin typeface="Poppins"/>
              </a:rPr>
              <a:t>IP Configuration of Client and Server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4673" y="1111236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2: Client Interface Configuration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4673" y="2655255"/>
            <a:ext cx="7200357" cy="4228738"/>
            <a:chOff x="0" y="0"/>
            <a:chExt cx="9600476" cy="5638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00438" cy="5638292"/>
            </a:xfrm>
            <a:custGeom>
              <a:avLst/>
              <a:gdLst/>
              <a:ahLst/>
              <a:cxnLst/>
              <a:rect r="r" b="b" t="t" l="l"/>
              <a:pathLst>
                <a:path h="5638292" w="9600438">
                  <a:moveTo>
                    <a:pt x="0" y="0"/>
                  </a:moveTo>
                  <a:lnTo>
                    <a:pt x="9600438" y="0"/>
                  </a:lnTo>
                  <a:lnTo>
                    <a:pt x="9600438" y="5638292"/>
                  </a:lnTo>
                  <a:lnTo>
                    <a:pt x="0" y="5638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569" t="0" r="0" b="-3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74673" y="7858393"/>
            <a:ext cx="692154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0F172A"/>
                </a:solidFill>
                <a:latin typeface="Poppins"/>
              </a:rPr>
              <a:t>Configure static IP parameters and set DNS Server to 192.168.0.105 in Client interface settings.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4673" y="8294464"/>
            <a:ext cx="548783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>
                <a:solidFill>
                  <a:srgbClr val="0F172A"/>
                </a:solidFill>
                <a:latin typeface="Poppins"/>
              </a:rPr>
              <a:t>Provision FastEthernet0 with IP 192.168.0.110 and Subnet Mask 255.255.255.0: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04480" y="1525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3: Server DNS Configuration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6244" y="1028700"/>
            <a:ext cx="7228213" cy="4277627"/>
            <a:chOff x="0" y="0"/>
            <a:chExt cx="9847440" cy="5827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47453" cy="5827649"/>
            </a:xfrm>
            <a:custGeom>
              <a:avLst/>
              <a:gdLst/>
              <a:ahLst/>
              <a:cxnLst/>
              <a:rect r="r" b="b" t="t" l="l"/>
              <a:pathLst>
                <a:path h="5827649" w="9847453">
                  <a:moveTo>
                    <a:pt x="0" y="0"/>
                  </a:moveTo>
                  <a:lnTo>
                    <a:pt x="9847453" y="0"/>
                  </a:lnTo>
                  <a:lnTo>
                    <a:pt x="9847453" y="5827649"/>
                  </a:lnTo>
                  <a:lnTo>
                    <a:pt x="0" y="5827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934" y="5480376"/>
            <a:ext cx="7229523" cy="4456624"/>
            <a:chOff x="0" y="0"/>
            <a:chExt cx="9639364" cy="59421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39300" cy="5942203"/>
            </a:xfrm>
            <a:custGeom>
              <a:avLst/>
              <a:gdLst/>
              <a:ahLst/>
              <a:cxnLst/>
              <a:rect r="r" b="b" t="t" l="l"/>
              <a:pathLst>
                <a:path h="5942203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5942203"/>
                  </a:lnTo>
                  <a:lnTo>
                    <a:pt x="0" y="594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88454" y="1525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4: ICMP Verification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347215" y="832845"/>
            <a:ext cx="4798771" cy="3961198"/>
            <a:chOff x="0" y="0"/>
            <a:chExt cx="8856726" cy="7310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56726" cy="7310882"/>
            </a:xfrm>
            <a:custGeom>
              <a:avLst/>
              <a:gdLst/>
              <a:ahLst/>
              <a:cxnLst/>
              <a:rect r="r" b="b" t="t" l="l"/>
              <a:pathLst>
                <a:path h="7310882" w="8856726">
                  <a:moveTo>
                    <a:pt x="0" y="0"/>
                  </a:moveTo>
                  <a:lnTo>
                    <a:pt x="8856726" y="0"/>
                  </a:lnTo>
                  <a:lnTo>
                    <a:pt x="8856726" y="7310882"/>
                  </a:lnTo>
                  <a:lnTo>
                    <a:pt x="0" y="731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" r="0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73303" y="4794043"/>
            <a:ext cx="8585997" cy="5142957"/>
            <a:chOff x="0" y="0"/>
            <a:chExt cx="11447996" cy="6857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48034" cy="6857238"/>
            </a:xfrm>
            <a:custGeom>
              <a:avLst/>
              <a:gdLst/>
              <a:ahLst/>
              <a:cxnLst/>
              <a:rect r="r" b="b" t="t" l="l"/>
              <a:pathLst>
                <a:path h="6857238" w="11448034">
                  <a:moveTo>
                    <a:pt x="0" y="0"/>
                  </a:moveTo>
                  <a:lnTo>
                    <a:pt x="11448034" y="0"/>
                  </a:lnTo>
                  <a:lnTo>
                    <a:pt x="11448034" y="6857238"/>
                  </a:lnTo>
                  <a:lnTo>
                    <a:pt x="0" y="685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" r="0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04312" y="3717928"/>
            <a:ext cx="52549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700" b="0">
                <a:solidFill>
                  <a:srgbClr val="0F172A"/>
                </a:solidFill>
                <a:latin typeface="Poppins"/>
              </a:rPr>
              <a:t>Verified end-to-end bidirectional reachability by sending test PDUs and executing ICMP ping from the client terminal (0% packet loss).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04480" y="291497"/>
            <a:ext cx="707084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Part 2:</a:t>
            </a:r>
          </a:p>
          <a:p>
            <a:r>
              <a:rPr sz="2600" b="1">
                <a:solidFill>
                  <a:srgbClr val="0F766E"/>
                </a:solidFill>
                <a:latin typeface="TT Drugs Bold"/>
              </a:rPr>
              <a:t>Step 1: Multi-Subnet DNS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00601" y="824897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2: Dual-Subnet IP Addressing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4480" y="1882171"/>
            <a:ext cx="11472301" cy="5557142"/>
            <a:chOff x="0" y="0"/>
            <a:chExt cx="15296401" cy="7409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96387" cy="7409561"/>
            </a:xfrm>
            <a:custGeom>
              <a:avLst/>
              <a:gdLst/>
              <a:ahLst/>
              <a:cxnLst/>
              <a:rect r="r" b="b" t="t" l="l"/>
              <a:pathLst>
                <a:path h="7409561" w="15296387">
                  <a:moveTo>
                    <a:pt x="0" y="0"/>
                  </a:moveTo>
                  <a:lnTo>
                    <a:pt x="15296387" y="0"/>
                  </a:lnTo>
                  <a:lnTo>
                    <a:pt x="15296387" y="7409561"/>
                  </a:lnTo>
                  <a:lnTo>
                    <a:pt x="0" y="7409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4496" y="1882171"/>
            <a:ext cx="5603043" cy="3231356"/>
            <a:chOff x="0" y="0"/>
            <a:chExt cx="7470724" cy="4308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0775" cy="4308475"/>
            </a:xfrm>
            <a:custGeom>
              <a:avLst/>
              <a:gdLst/>
              <a:ahLst/>
              <a:cxnLst/>
              <a:rect r="r" b="b" t="t" l="l"/>
              <a:pathLst>
                <a:path h="4308475" w="7470775">
                  <a:moveTo>
                    <a:pt x="0" y="0"/>
                  </a:moveTo>
                  <a:lnTo>
                    <a:pt x="7470775" y="0"/>
                  </a:lnTo>
                  <a:lnTo>
                    <a:pt x="7470775" y="4308475"/>
                  </a:lnTo>
                  <a:lnTo>
                    <a:pt x="0" y="4308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94496" y="4353757"/>
            <a:ext cx="5603043" cy="3085557"/>
            <a:chOff x="0" y="0"/>
            <a:chExt cx="7470724" cy="41140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70725" cy="4114038"/>
            </a:xfrm>
            <a:custGeom>
              <a:avLst/>
              <a:gdLst/>
              <a:ahLst/>
              <a:cxnLst/>
              <a:rect r="r" b="b" t="t" l="l"/>
              <a:pathLst>
                <a:path h="4114038" w="7470725">
                  <a:moveTo>
                    <a:pt x="0" y="0"/>
                  </a:moveTo>
                  <a:lnTo>
                    <a:pt x="7470725" y="0"/>
                  </a:lnTo>
                  <a:lnTo>
                    <a:pt x="7470725" y="4114038"/>
                  </a:lnTo>
                  <a:lnTo>
                    <a:pt x="0" y="4114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62" r="0" b="-236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26219" y="8610600"/>
            <a:ext cx="1757146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>
                <a:solidFill>
                  <a:srgbClr val="0F172A"/>
                </a:solidFill>
                <a:latin typeface="Poppins"/>
              </a:rPr>
              <a:t>Integrated two distinct subnets via a central router, each network equipped with 2 PCs, a dedicated server, and a Layer-2 switch. Statically configured host addressing and default gateways.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3: Router Gateway Configuration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76688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4: Server DNS Table Setup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4480" y="1995045"/>
            <a:ext cx="7700401" cy="4871342"/>
            <a:chOff x="0" y="0"/>
            <a:chExt cx="10267201" cy="6495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67188" cy="6495161"/>
            </a:xfrm>
            <a:custGeom>
              <a:avLst/>
              <a:gdLst/>
              <a:ahLst/>
              <a:cxnLst/>
              <a:rect r="r" b="b" t="t" l="l"/>
              <a:pathLst>
                <a:path h="6495161" w="10267188">
                  <a:moveTo>
                    <a:pt x="0" y="0"/>
                  </a:moveTo>
                  <a:lnTo>
                    <a:pt x="10267188" y="0"/>
                  </a:lnTo>
                  <a:lnTo>
                    <a:pt x="10267188" y="6495161"/>
                  </a:lnTo>
                  <a:lnTo>
                    <a:pt x="0" y="6495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04480" y="7418193"/>
            <a:ext cx="75432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sz="1700" b="0">
                <a:solidFill>
                  <a:srgbClr val="0F172A"/>
                </a:solidFill>
                <a:latin typeface="Poppins"/>
              </a:rPr>
              <a:t>Configured router interfaces Fa0/0 (192.168.1.4) and Fa0/1 (192.168.2.4) as respective default gateways.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63647" y="2272229"/>
            <a:ext cx="8483887" cy="4316976"/>
            <a:chOff x="0" y="0"/>
            <a:chExt cx="9810001" cy="499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09988" cy="4991735"/>
            </a:xfrm>
            <a:custGeom>
              <a:avLst/>
              <a:gdLst/>
              <a:ahLst/>
              <a:cxnLst/>
              <a:rect r="r" b="b" t="t" l="l"/>
              <a:pathLst>
                <a:path h="4991735" w="9809988">
                  <a:moveTo>
                    <a:pt x="0" y="0"/>
                  </a:moveTo>
                  <a:lnTo>
                    <a:pt x="9809988" y="0"/>
                  </a:lnTo>
                  <a:lnTo>
                    <a:pt x="9809988" y="4991735"/>
                  </a:lnTo>
                  <a:lnTo>
                    <a:pt x="0" y="49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58678" y="7261030"/>
            <a:ext cx="828885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sz="1700" b="0">
                <a:solidFill>
                  <a:srgbClr val="0F172A"/>
                </a:solidFill>
                <a:latin typeface="Poppins"/>
              </a:rPr>
              <a:t>Populated DNS A-records on both servers: mapping www.ju.edu to 192.168.1.3 and www.du.com to 192.168.2.3.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5: Loading HTML Code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4480" y="1853492"/>
            <a:ext cx="8313839" cy="5074377"/>
            <a:chOff x="0" y="0"/>
            <a:chExt cx="11085119" cy="67658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85068" cy="6765798"/>
            </a:xfrm>
            <a:custGeom>
              <a:avLst/>
              <a:gdLst/>
              <a:ahLst/>
              <a:cxnLst/>
              <a:rect r="r" b="b" t="t" l="l"/>
              <a:pathLst>
                <a:path h="6765798" w="11085068">
                  <a:moveTo>
                    <a:pt x="0" y="0"/>
                  </a:moveTo>
                  <a:lnTo>
                    <a:pt x="11085068" y="0"/>
                  </a:lnTo>
                  <a:lnTo>
                    <a:pt x="11085068" y="6765798"/>
                  </a:lnTo>
                  <a:lnTo>
                    <a:pt x="0" y="6765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0" y="1853492"/>
            <a:ext cx="8313484" cy="5074377"/>
            <a:chOff x="0" y="0"/>
            <a:chExt cx="10335603" cy="63086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35641" cy="6308598"/>
            </a:xfrm>
            <a:custGeom>
              <a:avLst/>
              <a:gdLst/>
              <a:ahLst/>
              <a:cxnLst/>
              <a:rect r="r" b="b" t="t" l="l"/>
              <a:pathLst>
                <a:path h="6308598" w="10335641">
                  <a:moveTo>
                    <a:pt x="0" y="0"/>
                  </a:moveTo>
                  <a:lnTo>
                    <a:pt x="10335641" y="0"/>
                  </a:lnTo>
                  <a:lnTo>
                    <a:pt x="10335641" y="6308598"/>
                  </a:lnTo>
                  <a:lnTo>
                    <a:pt x="0" y="6308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4480" y="7632719"/>
            <a:ext cx="928148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Authored and deployed custom institution web pages (ju.html and du.html) on HTTP services of Server0 and Server1.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6: End-to-End Verification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51107" y="1864293"/>
            <a:ext cx="7227360" cy="5825519"/>
            <a:chOff x="0" y="0"/>
            <a:chExt cx="9636481" cy="7767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36506" cy="7767320"/>
            </a:xfrm>
            <a:custGeom>
              <a:avLst/>
              <a:gdLst/>
              <a:ahLst/>
              <a:cxnLst/>
              <a:rect r="r" b="b" t="t" l="l"/>
              <a:pathLst>
                <a:path h="7767320" w="9636506">
                  <a:moveTo>
                    <a:pt x="0" y="0"/>
                  </a:moveTo>
                  <a:lnTo>
                    <a:pt x="9636506" y="0"/>
                  </a:lnTo>
                  <a:lnTo>
                    <a:pt x="9636506" y="7767320"/>
                  </a:lnTo>
                  <a:lnTo>
                    <a:pt x="0" y="7767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12050" y="1864293"/>
            <a:ext cx="7200900" cy="5803916"/>
            <a:chOff x="0" y="0"/>
            <a:chExt cx="9601200" cy="7738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7738618"/>
            </a:xfrm>
            <a:custGeom>
              <a:avLst/>
              <a:gdLst/>
              <a:ahLst/>
              <a:cxnLst/>
              <a:rect r="r" b="b" t="t" l="l"/>
              <a:pathLst>
                <a:path h="7738618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738618"/>
                  </a:lnTo>
                  <a:lnTo>
                    <a:pt x="0" y="7738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0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51107" y="8269596"/>
            <a:ext cx="130860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Validated cross-subnet web access on PC0 and PC2 web browsers, verifying complete DNS resolution and routed HTTP communication.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3794" y="4544108"/>
            <a:ext cx="15598672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4: Inter-Router Communication &amp; Routing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88727" y="2551714"/>
            <a:ext cx="6877774" cy="3009026"/>
          </a:xfrm>
          <a:custGeom>
            <a:avLst/>
            <a:gdLst/>
            <a:ahLst/>
            <a:cxnLst/>
            <a:rect r="r" b="b" t="t" l="l"/>
            <a:pathLst>
              <a:path h="3009026" w="6877774">
                <a:moveTo>
                  <a:pt x="0" y="0"/>
                </a:moveTo>
                <a:lnTo>
                  <a:pt x="6877773" y="0"/>
                </a:lnTo>
                <a:lnTo>
                  <a:pt x="6877773" y="3009026"/>
                </a:lnTo>
                <a:lnTo>
                  <a:pt x="0" y="300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388727" y="5732148"/>
            <a:ext cx="9419526" cy="4121043"/>
          </a:xfrm>
          <a:custGeom>
            <a:avLst/>
            <a:gdLst/>
            <a:ahLst/>
            <a:cxnLst/>
            <a:rect r="r" b="b" t="t" l="l"/>
            <a:pathLst>
              <a:path h="4121043" w="9419526">
                <a:moveTo>
                  <a:pt x="0" y="0"/>
                </a:moveTo>
                <a:lnTo>
                  <a:pt x="9419526" y="0"/>
                </a:lnTo>
                <a:lnTo>
                  <a:pt x="9419526" y="4121043"/>
                </a:lnTo>
                <a:lnTo>
                  <a:pt x="0" y="412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183559" y="2551714"/>
            <a:ext cx="7593627" cy="4331481"/>
          </a:xfrm>
          <a:custGeom>
            <a:avLst/>
            <a:gdLst/>
            <a:ahLst/>
            <a:cxnLst/>
            <a:rect r="r" b="b" t="t" l="l"/>
            <a:pathLst>
              <a:path h="4331481" w="7593627">
                <a:moveTo>
                  <a:pt x="0" y="0"/>
                </a:moveTo>
                <a:lnTo>
                  <a:pt x="7593628" y="0"/>
                </a:lnTo>
                <a:lnTo>
                  <a:pt x="7593628" y="4331481"/>
                </a:lnTo>
                <a:lnTo>
                  <a:pt x="0" y="43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Interface Cabling &amp; IP Addressing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8978756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Expt-3: Connection of Two Routers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Static Route Configuration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3559" y="7454695"/>
            <a:ext cx="759362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000" b="0">
                <a:solidFill>
                  <a:srgbClr val="0F172A"/>
                </a:solidFill>
                <a:latin typeface="Poppins"/>
              </a:rPr>
              <a:t>Configured static route tables on Router0 and Router1, establishing reciprocal next-hop forwarding across the 192.168.3.0/24 transit link.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404480" y="1745048"/>
            <a:ext cx="10576944" cy="4194924"/>
          </a:xfrm>
          <a:custGeom>
            <a:avLst/>
            <a:gdLst/>
            <a:ahLst/>
            <a:cxnLst/>
            <a:rect r="r" b="b" t="t" l="l"/>
            <a:pathLst>
              <a:path h="4194924" w="10576944">
                <a:moveTo>
                  <a:pt x="0" y="0"/>
                </a:moveTo>
                <a:lnTo>
                  <a:pt x="10576945" y="0"/>
                </a:lnTo>
                <a:lnTo>
                  <a:pt x="10576945" y="4194923"/>
                </a:lnTo>
                <a:lnTo>
                  <a:pt x="0" y="4194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7632007" y="6122580"/>
            <a:ext cx="10308374" cy="1998360"/>
          </a:xfrm>
          <a:custGeom>
            <a:avLst/>
            <a:gdLst/>
            <a:ahLst/>
            <a:cxnLst/>
            <a:rect r="r" b="b" t="t" l="l"/>
            <a:pathLst>
              <a:path h="1998360" w="10308374">
                <a:moveTo>
                  <a:pt x="0" y="0"/>
                </a:moveTo>
                <a:lnTo>
                  <a:pt x="10308374" y="0"/>
                </a:lnTo>
                <a:lnTo>
                  <a:pt x="10308374" y="1998360"/>
                </a:lnTo>
                <a:lnTo>
                  <a:pt x="0" y="1998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3: Simulation &amp; Packet Delivery Verification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803" y="8596991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100" b="0">
                <a:solidFill>
                  <a:srgbClr val="0F172A"/>
                </a:solidFill>
                <a:latin typeface="Poppins"/>
              </a:rPr>
              <a:t>Dispatched ICMP test packets between PC0 and PC1 in simulation mode; confirmed successful multi-hop delivery and reverse reply traversal.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511309" y="2490295"/>
            <a:ext cx="7218721" cy="3423599"/>
            <a:chOff x="0" y="0"/>
            <a:chExt cx="9624962" cy="4564799"/>
          </a:xfrm>
        </p:grpSpPr>
        <p:sp>
          <p:nvSpPr>
            <p:cNvPr name="Freeform 4" id="4" descr="Part 2 topology: PC0, Router0, Hub0 with PC1, Router1, PC2"/>
            <p:cNvSpPr/>
            <p:nvPr/>
          </p:nvSpPr>
          <p:spPr>
            <a:xfrm flipH="false" flipV="false" rot="0">
              <a:off x="0" y="0"/>
              <a:ext cx="9624950" cy="4564761"/>
            </a:xfrm>
            <a:custGeom>
              <a:avLst/>
              <a:gdLst/>
              <a:ahLst/>
              <a:cxnLst/>
              <a:rect r="r" b="b" t="t" l="l"/>
              <a:pathLst>
                <a:path h="4564761" w="9624950">
                  <a:moveTo>
                    <a:pt x="0" y="60579"/>
                  </a:moveTo>
                  <a:cubicBezTo>
                    <a:pt x="0" y="39624"/>
                    <a:pt x="4699" y="18923"/>
                    <a:pt x="13843" y="0"/>
                  </a:cubicBezTo>
                  <a:lnTo>
                    <a:pt x="9611106" y="0"/>
                  </a:lnTo>
                  <a:cubicBezTo>
                    <a:pt x="9620250" y="18923"/>
                    <a:pt x="9624950" y="39624"/>
                    <a:pt x="9624950" y="60579"/>
                  </a:cubicBezTo>
                  <a:lnTo>
                    <a:pt x="9624950" y="4504182"/>
                  </a:lnTo>
                  <a:cubicBezTo>
                    <a:pt x="9624950" y="4525137"/>
                    <a:pt x="9620250" y="4545838"/>
                    <a:pt x="9611106" y="4564761"/>
                  </a:cubicBezTo>
                  <a:lnTo>
                    <a:pt x="13843" y="4564761"/>
                  </a:lnTo>
                  <a:cubicBezTo>
                    <a:pt x="4699" y="4545838"/>
                    <a:pt x="0" y="4525137"/>
                    <a:pt x="0" y="4504182"/>
                  </a:cubicBez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04687" y="2490295"/>
            <a:ext cx="8172499" cy="6465832"/>
          </a:xfrm>
          <a:custGeom>
            <a:avLst/>
            <a:gdLst/>
            <a:ahLst/>
            <a:cxnLst/>
            <a:rect r="r" b="b" t="t" l="l"/>
            <a:pathLst>
              <a:path h="6465832" w="8172499">
                <a:moveTo>
                  <a:pt x="0" y="0"/>
                </a:moveTo>
                <a:lnTo>
                  <a:pt x="8172500" y="0"/>
                </a:lnTo>
                <a:lnTo>
                  <a:pt x="8172500" y="6465831"/>
                </a:lnTo>
                <a:lnTo>
                  <a:pt x="0" y="6465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511309" y="6271664"/>
            <a:ext cx="7218721" cy="2684462"/>
          </a:xfrm>
          <a:custGeom>
            <a:avLst/>
            <a:gdLst/>
            <a:ahLst/>
            <a:cxnLst/>
            <a:rect r="r" b="b" t="t" l="l"/>
            <a:pathLst>
              <a:path h="2684462" w="7218721">
                <a:moveTo>
                  <a:pt x="0" y="0"/>
                </a:moveTo>
                <a:lnTo>
                  <a:pt x="7218721" y="0"/>
                </a:lnTo>
                <a:lnTo>
                  <a:pt x="7218721" y="2684462"/>
                </a:lnTo>
                <a:lnTo>
                  <a:pt x="0" y="2684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511309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Hub Transit Cabling &amp; IP Scheme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699" y="457835"/>
            <a:ext cx="17474487" cy="50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sz="3400" b="1">
                <a:solidFill>
                  <a:srgbClr val="062D25"/>
                </a:solidFill>
                <a:latin typeface="TT Drugs Bold"/>
              </a:rPr>
              <a:t>Expt-4: Connection of Two Routers with Intermediate Host Segment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Gateway &amp; Route Redistribution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7632007" y="6122580"/>
            <a:ext cx="10308374" cy="1998360"/>
          </a:xfrm>
          <a:custGeom>
            <a:avLst/>
            <a:gdLst/>
            <a:ahLst/>
            <a:cxnLst/>
            <a:rect r="r" b="b" t="t" l="l"/>
            <a:pathLst>
              <a:path h="1998360" w="10308374">
                <a:moveTo>
                  <a:pt x="0" y="0"/>
                </a:moveTo>
                <a:lnTo>
                  <a:pt x="10308374" y="0"/>
                </a:lnTo>
                <a:lnTo>
                  <a:pt x="10308374" y="1998360"/>
                </a:lnTo>
                <a:lnTo>
                  <a:pt x="0" y="1998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04480" y="609740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3: End-to-End Routing Simulation Verification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9803" y="8596991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sz="2100" b="0">
                <a:solidFill>
                  <a:srgbClr val="0F172A"/>
                </a:solidFill>
                <a:latin typeface="Poppins"/>
              </a:rPr>
              <a:t>Validated network convergence by routing packets across both routers and the intermediate transit segment, confirming successful end-to-end transmission.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9803" y="1461475"/>
            <a:ext cx="9580522" cy="4543723"/>
            <a:chOff x="0" y="0"/>
            <a:chExt cx="9624962" cy="4564799"/>
          </a:xfrm>
        </p:grpSpPr>
        <p:sp>
          <p:nvSpPr>
            <p:cNvPr name="Freeform 7" id="7" descr="Part 2 topology: PC0, Router0, Hub0 with PC1, Router1, PC2"/>
            <p:cNvSpPr/>
            <p:nvPr/>
          </p:nvSpPr>
          <p:spPr>
            <a:xfrm flipH="false" flipV="false" rot="0">
              <a:off x="0" y="0"/>
              <a:ext cx="9624950" cy="4564761"/>
            </a:xfrm>
            <a:custGeom>
              <a:avLst/>
              <a:gdLst/>
              <a:ahLst/>
              <a:cxnLst/>
              <a:rect r="r" b="b" t="t" l="l"/>
              <a:pathLst>
                <a:path h="4564761" w="9624950">
                  <a:moveTo>
                    <a:pt x="0" y="60579"/>
                  </a:moveTo>
                  <a:cubicBezTo>
                    <a:pt x="0" y="39624"/>
                    <a:pt x="4699" y="18923"/>
                    <a:pt x="13843" y="0"/>
                  </a:cubicBezTo>
                  <a:lnTo>
                    <a:pt x="9611106" y="0"/>
                  </a:lnTo>
                  <a:cubicBezTo>
                    <a:pt x="9620250" y="18923"/>
                    <a:pt x="9624950" y="39624"/>
                    <a:pt x="9624950" y="60579"/>
                  </a:cubicBezTo>
                  <a:lnTo>
                    <a:pt x="9624950" y="4504182"/>
                  </a:lnTo>
                  <a:cubicBezTo>
                    <a:pt x="9624950" y="4525137"/>
                    <a:pt x="9620250" y="4545838"/>
                    <a:pt x="9611106" y="4564761"/>
                  </a:cubicBezTo>
                  <a:lnTo>
                    <a:pt x="13843" y="4564761"/>
                  </a:lnTo>
                  <a:cubicBezTo>
                    <a:pt x="4699" y="4545838"/>
                    <a:pt x="0" y="4525137"/>
                    <a:pt x="0" y="4504182"/>
                  </a:cubicBezTo>
                  <a:close/>
                </a:path>
              </a:pathLst>
            </a:custGeom>
            <a:blipFill>
              <a:blip r:embed="rId4"/>
              <a:stretch>
                <a:fillRect l="0" t="-7" r="0" b="-8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81940"/>
            <a:ext cx="16386375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5: Cascaded Series Multi-Router Topologies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388727" y="2624642"/>
            <a:ext cx="8529304" cy="5286061"/>
            <a:chOff x="0" y="0"/>
            <a:chExt cx="11372406" cy="70480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72342" cy="7048119"/>
            </a:xfrm>
            <a:custGeom>
              <a:avLst/>
              <a:gdLst/>
              <a:ahLst/>
              <a:cxnLst/>
              <a:rect r="r" b="b" t="t" l="l"/>
              <a:pathLst>
                <a:path h="7048119" w="11372342">
                  <a:moveTo>
                    <a:pt x="0" y="0"/>
                  </a:moveTo>
                  <a:lnTo>
                    <a:pt x="11372342" y="0"/>
                  </a:lnTo>
                  <a:lnTo>
                    <a:pt x="11372342" y="7048119"/>
                  </a:lnTo>
                  <a:lnTo>
                    <a:pt x="0" y="704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111431" y="2624642"/>
            <a:ext cx="7665755" cy="5286061"/>
          </a:xfrm>
          <a:custGeom>
            <a:avLst/>
            <a:gdLst/>
            <a:ahLst/>
            <a:cxnLst/>
            <a:rect r="r" b="b" t="t" l="l"/>
            <a:pathLst>
              <a:path h="5286061" w="7665755">
                <a:moveTo>
                  <a:pt x="0" y="0"/>
                </a:moveTo>
                <a:lnTo>
                  <a:pt x="7665756" y="0"/>
                </a:lnTo>
                <a:lnTo>
                  <a:pt x="7665756" y="5286061"/>
                </a:lnTo>
                <a:lnTo>
                  <a:pt x="0" y="528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762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Multi-Hop Topology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246353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Expt-5: Cascaded Routing Across Three Routers in Series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Router Configuration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sz="2100" b="0">
                <a:solidFill>
                  <a:srgbClr val="0F172A"/>
                </a:solidFill>
                <a:latin typeface="Poppins"/>
              </a:rPr>
              <a:t>Interconnected three Cisco 1841 routers in a linear cascade; activated interface protocols and verified Layer-1/2 status.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189262" y="1667015"/>
            <a:ext cx="11704591" cy="2688555"/>
          </a:xfrm>
          <a:custGeom>
            <a:avLst/>
            <a:gdLst/>
            <a:ahLst/>
            <a:cxnLst/>
            <a:rect r="r" b="b" t="t" l="l"/>
            <a:pathLst>
              <a:path h="2688555" w="11704591">
                <a:moveTo>
                  <a:pt x="0" y="0"/>
                </a:moveTo>
                <a:lnTo>
                  <a:pt x="11704591" y="0"/>
                </a:lnTo>
                <a:lnTo>
                  <a:pt x="11704591" y="2688555"/>
                </a:lnTo>
                <a:lnTo>
                  <a:pt x="0" y="2688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5804127" y="5973580"/>
            <a:ext cx="6679745" cy="3726024"/>
          </a:xfrm>
          <a:custGeom>
            <a:avLst/>
            <a:gdLst/>
            <a:ahLst/>
            <a:cxnLst/>
            <a:rect r="r" b="b" t="t" l="l"/>
            <a:pathLst>
              <a:path h="3726024" w="6679745">
                <a:moveTo>
                  <a:pt x="0" y="0"/>
                </a:moveTo>
                <a:lnTo>
                  <a:pt x="6679746" y="0"/>
                </a:lnTo>
                <a:lnTo>
                  <a:pt x="6679746" y="3726024"/>
                </a:lnTo>
                <a:lnTo>
                  <a:pt x="0" y="372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404480" y="609740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3: Multi-Hop Static Routing Configuration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4480" y="4916305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4: Host Gateway &amp; IP Configuration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179334" y="2212577"/>
            <a:ext cx="13604206" cy="6171605"/>
          </a:xfrm>
          <a:custGeom>
            <a:avLst/>
            <a:gdLst/>
            <a:ahLst/>
            <a:cxnLst/>
            <a:rect r="r" b="b" t="t" l="l"/>
            <a:pathLst>
              <a:path h="6171605" w="13604206">
                <a:moveTo>
                  <a:pt x="0" y="0"/>
                </a:moveTo>
                <a:lnTo>
                  <a:pt x="13604206" y="0"/>
                </a:lnTo>
                <a:lnTo>
                  <a:pt x="13604206" y="6171605"/>
                </a:lnTo>
                <a:lnTo>
                  <a:pt x="0" y="6171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04480" y="609740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800" b="1">
                <a:solidFill>
                  <a:srgbClr val="0F766E"/>
                </a:solidFill>
                <a:latin typeface="TT Drugs Bold"/>
              </a:rPr>
              <a:t>Step 5: Event Timeline &amp; Simulation Trace Verification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744" y="3975418"/>
            <a:ext cx="17679853" cy="31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6: Mesh Topologies &amp; Complex Routed Networks</a:t>
            </a: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88727" y="2198831"/>
            <a:ext cx="10719857" cy="6175231"/>
          </a:xfrm>
          <a:custGeom>
            <a:avLst/>
            <a:gdLst/>
            <a:ahLst/>
            <a:cxnLst/>
            <a:rect r="r" b="b" t="t" l="l"/>
            <a:pathLst>
              <a:path h="6175231" w="10719857">
                <a:moveTo>
                  <a:pt x="0" y="0"/>
                </a:moveTo>
                <a:lnTo>
                  <a:pt x="10719857" y="0"/>
                </a:lnTo>
                <a:lnTo>
                  <a:pt x="10719857" y="6175231"/>
                </a:lnTo>
                <a:lnTo>
                  <a:pt x="0" y="6175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0" t="0" r="-84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1543890" y="2198831"/>
            <a:ext cx="6233297" cy="2944669"/>
          </a:xfrm>
          <a:custGeom>
            <a:avLst/>
            <a:gdLst/>
            <a:ahLst/>
            <a:cxnLst/>
            <a:rect r="r" b="b" t="t" l="l"/>
            <a:pathLst>
              <a:path h="2944669" w="6233297">
                <a:moveTo>
                  <a:pt x="0" y="0"/>
                </a:moveTo>
                <a:lnTo>
                  <a:pt x="6233297" y="0"/>
                </a:lnTo>
                <a:lnTo>
                  <a:pt x="6233297" y="2944669"/>
                </a:lnTo>
                <a:lnTo>
                  <a:pt x="0" y="2944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811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1543890" y="5143500"/>
            <a:ext cx="6233297" cy="3230562"/>
          </a:xfrm>
          <a:custGeom>
            <a:avLst/>
            <a:gdLst/>
            <a:ahLst/>
            <a:cxnLst/>
            <a:rect r="r" b="b" t="t" l="l"/>
            <a:pathLst>
              <a:path h="3230562" w="6233297">
                <a:moveTo>
                  <a:pt x="0" y="0"/>
                </a:moveTo>
                <a:lnTo>
                  <a:pt x="6233297" y="0"/>
                </a:lnTo>
                <a:lnTo>
                  <a:pt x="6233297" y="3230562"/>
                </a:lnTo>
                <a:lnTo>
                  <a:pt x="0" y="3230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864" r="0" b="-7864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Meshed Topology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Expt-9: Packet Routing in Complex Meshed Topology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Host IP Configuration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sz="2100" b="0">
                <a:solidFill>
                  <a:srgbClr val="0F172A"/>
                </a:solidFill>
                <a:latin typeface="Poppins"/>
              </a:rPr>
              <a:t>Constructed serial mesh interconnects across 3 routers; configured static IP parameters on PC0, PC1, PC2, and PC3.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88727" y="2145006"/>
            <a:ext cx="6727568" cy="7691272"/>
          </a:xfrm>
          <a:custGeom>
            <a:avLst/>
            <a:gdLst/>
            <a:ahLst/>
            <a:cxnLst/>
            <a:rect r="r" b="b" t="t" l="l"/>
            <a:pathLst>
              <a:path h="7691272" w="6727568">
                <a:moveTo>
                  <a:pt x="0" y="0"/>
                </a:moveTo>
                <a:lnTo>
                  <a:pt x="6727568" y="0"/>
                </a:lnTo>
                <a:lnTo>
                  <a:pt x="6727568" y="7691272"/>
                </a:lnTo>
                <a:lnTo>
                  <a:pt x="0" y="769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7934413" y="2600890"/>
            <a:ext cx="9842774" cy="6657410"/>
          </a:xfrm>
          <a:custGeom>
            <a:avLst/>
            <a:gdLst/>
            <a:ahLst/>
            <a:cxnLst/>
            <a:rect r="r" b="b" t="t" l="l"/>
            <a:pathLst>
              <a:path h="6657410" w="9842774">
                <a:moveTo>
                  <a:pt x="0" y="0"/>
                </a:moveTo>
                <a:lnTo>
                  <a:pt x="9842774" y="0"/>
                </a:lnTo>
                <a:lnTo>
                  <a:pt x="9842774" y="6657410"/>
                </a:lnTo>
                <a:lnTo>
                  <a:pt x="0" y="6657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0664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3: Router Configuration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Expt-9: Packet Routing in Complex Meshed Topology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7211" y="1433020"/>
            <a:ext cx="101599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400" b="1">
                <a:solidFill>
                  <a:srgbClr val="0F766E"/>
                </a:solidFill>
                <a:latin typeface="TT Drugs Bold"/>
              </a:rPr>
              <a:t>STEP 4: ICMP Reachability Verification (ping 192.168.1.1)</a:t>
            </a: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388727" y="2758607"/>
            <a:ext cx="8652333" cy="6880335"/>
          </a:xfrm>
          <a:custGeom>
            <a:avLst/>
            <a:gdLst/>
            <a:ahLst/>
            <a:cxnLst/>
            <a:rect r="r" b="b" t="t" l="l"/>
            <a:pathLst>
              <a:path h="6880335" w="8652333">
                <a:moveTo>
                  <a:pt x="0" y="0"/>
                </a:moveTo>
                <a:lnTo>
                  <a:pt x="8652333" y="0"/>
                </a:lnTo>
                <a:lnTo>
                  <a:pt x="8652333" y="6880336"/>
                </a:lnTo>
                <a:lnTo>
                  <a:pt x="0" y="6880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452564" y="8070231"/>
            <a:ext cx="8324623" cy="1054642"/>
          </a:xfrm>
          <a:custGeom>
            <a:avLst/>
            <a:gdLst/>
            <a:ahLst/>
            <a:cxnLst/>
            <a:rect r="r" b="b" t="t" l="l"/>
            <a:pathLst>
              <a:path h="1054642" w="8324623">
                <a:moveTo>
                  <a:pt x="0" y="0"/>
                </a:moveTo>
                <a:lnTo>
                  <a:pt x="8324623" y="0"/>
                </a:lnTo>
                <a:lnTo>
                  <a:pt x="8324623" y="1054642"/>
                </a:lnTo>
                <a:lnTo>
                  <a:pt x="0" y="1054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826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9452564" y="3033220"/>
            <a:ext cx="8324623" cy="4810336"/>
          </a:xfrm>
          <a:custGeom>
            <a:avLst/>
            <a:gdLst/>
            <a:ahLst/>
            <a:cxnLst/>
            <a:rect r="r" b="b" t="t" l="l"/>
            <a:pathLst>
              <a:path h="4810336" w="8324623">
                <a:moveTo>
                  <a:pt x="0" y="0"/>
                </a:moveTo>
                <a:lnTo>
                  <a:pt x="8324623" y="0"/>
                </a:lnTo>
                <a:lnTo>
                  <a:pt x="8324623" y="4810336"/>
                </a:lnTo>
                <a:lnTo>
                  <a:pt x="0" y="4810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897302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400" b="1">
                <a:solidFill>
                  <a:srgbClr val="0F766E"/>
                </a:solidFill>
                <a:latin typeface="TT Drugs Bold"/>
              </a:rPr>
              <a:t>STEP 5: Diagnostics via traceroute, ipconfig &amp; arp -a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Expt-9: Packet Routing in Complex Meshed Topology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88949" y="1433020"/>
            <a:ext cx="758823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400" b="1">
                <a:solidFill>
                  <a:srgbClr val="0F766E"/>
                </a:solidFill>
                <a:latin typeface="TT Drugs Bold"/>
              </a:rPr>
              <a:t>STEP 6: Simulation Mode Path &amp; Forwarding Inspection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20553" y="4523244"/>
            <a:ext cx="17679853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sz="6630" b="1">
                <a:solidFill>
                  <a:srgbClr val="FFFFFF"/>
                </a:solidFill>
                <a:latin typeface="TT Drugs Bold"/>
              </a:rPr>
              <a:t>Lab 7: VLAN Configurations &amp; Layer-3 Switching</a:t>
            </a: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2146759" y="2300810"/>
            <a:ext cx="5826937" cy="5729821"/>
          </a:xfrm>
          <a:custGeom>
            <a:avLst/>
            <a:gdLst/>
            <a:ahLst/>
            <a:cxnLst/>
            <a:rect r="r" b="b" t="t" l="l"/>
            <a:pathLst>
              <a:path h="5729821" w="5826937">
                <a:moveTo>
                  <a:pt x="0" y="0"/>
                </a:moveTo>
                <a:lnTo>
                  <a:pt x="5826937" y="0"/>
                </a:lnTo>
                <a:lnTo>
                  <a:pt x="5826937" y="5729821"/>
                </a:lnTo>
                <a:lnTo>
                  <a:pt x="0" y="5729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982892" y="2300810"/>
            <a:ext cx="6570040" cy="5729821"/>
          </a:xfrm>
          <a:custGeom>
            <a:avLst/>
            <a:gdLst/>
            <a:ahLst/>
            <a:cxnLst/>
            <a:rect r="r" b="b" t="t" l="l"/>
            <a:pathLst>
              <a:path h="5729821" w="6570040">
                <a:moveTo>
                  <a:pt x="0" y="0"/>
                </a:moveTo>
                <a:lnTo>
                  <a:pt x="6570039" y="0"/>
                </a:lnTo>
                <a:lnTo>
                  <a:pt x="6570039" y="5729821"/>
                </a:lnTo>
                <a:lnTo>
                  <a:pt x="0" y="5729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Implement the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Expt-7: VLAN Configuration with Layer-3 Switch &amp; Router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Host IP Configuration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sz="2100" b="0">
                <a:solidFill>
                  <a:srgbClr val="0F172A"/>
                </a:solidFill>
                <a:latin typeface="Poppins"/>
              </a:rPr>
              <a:t>Interconnected 2960 switch and 1841 router; provisioned hosts in VLAN 10 (192.168.1.0/24) and VLAN 20 (192.168.2.0/24).</a:t>
            </a: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421274" y="2160271"/>
            <a:ext cx="7486739" cy="7209453"/>
          </a:xfrm>
          <a:custGeom>
            <a:avLst/>
            <a:gdLst/>
            <a:ahLst/>
            <a:cxnLst/>
            <a:rect r="r" b="b" t="t" l="l"/>
            <a:pathLst>
              <a:path h="7209453" w="7486739">
                <a:moveTo>
                  <a:pt x="0" y="0"/>
                </a:moveTo>
                <a:lnTo>
                  <a:pt x="7486739" y="0"/>
                </a:lnTo>
                <a:lnTo>
                  <a:pt x="7486739" y="7209453"/>
                </a:lnTo>
                <a:lnTo>
                  <a:pt x="0" y="7209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609575" y="2160271"/>
            <a:ext cx="7486739" cy="7209453"/>
          </a:xfrm>
          <a:custGeom>
            <a:avLst/>
            <a:gdLst/>
            <a:ahLst/>
            <a:cxnLst/>
            <a:rect r="r" b="b" t="t" l="l"/>
            <a:pathLst>
              <a:path h="7209453" w="7486739">
                <a:moveTo>
                  <a:pt x="0" y="0"/>
                </a:moveTo>
                <a:lnTo>
                  <a:pt x="7486739" y="0"/>
                </a:lnTo>
                <a:lnTo>
                  <a:pt x="7486739" y="7209453"/>
                </a:lnTo>
                <a:lnTo>
                  <a:pt x="0" y="720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7817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3: Switch &amp; Router Configuration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518744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Expt-7: VLAN Configuration with Layer-3 Switch &amp; Router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1433020"/>
            <a:ext cx="863318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400" b="1">
                <a:solidFill>
                  <a:srgbClr val="0F766E"/>
                </a:solidFill>
                <a:latin typeface="TT Drugs Bold"/>
              </a:rPr>
              <a:t>STEP 4: VLAN Database Inspection (show vlan brief)</a:t>
            </a:r>
          </a:p>
        </p:txBody>
      </p:sp>
    </p:spTree>
  </p:cSld>
  <p:clrMapOvr>
    <a:masterClrMapping/>
  </p:clrMapOvr>
  <p:transition spd="fast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605417" y="2499820"/>
            <a:ext cx="15168968" cy="6922042"/>
          </a:xfrm>
          <a:custGeom>
            <a:avLst/>
            <a:gdLst/>
            <a:ahLst/>
            <a:cxnLst/>
            <a:rect r="r" b="b" t="t" l="l"/>
            <a:pathLst>
              <a:path h="6922042" w="15168968">
                <a:moveTo>
                  <a:pt x="0" y="0"/>
                </a:moveTo>
                <a:lnTo>
                  <a:pt x="15168968" y="0"/>
                </a:lnTo>
                <a:lnTo>
                  <a:pt x="15168968" y="6922041"/>
                </a:lnTo>
                <a:lnTo>
                  <a:pt x="0" y="6922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388727" y="1433020"/>
            <a:ext cx="116664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500" b="1">
                <a:solidFill>
                  <a:srgbClr val="0F766E"/>
                </a:solidFill>
                <a:latin typeface="TT Drugs Bold"/>
              </a:rPr>
              <a:t>STEP 5: Inter-VLAN Packet Traversal &amp; Simulation Verification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600" b="1">
                <a:solidFill>
                  <a:srgbClr val="062D25"/>
                </a:solidFill>
                <a:latin typeface="TT Drugs Bold"/>
              </a:rPr>
              <a:t>Expt-7: VLAN Configuration with Layer-3 Switch &amp; Router</a:t>
            </a:r>
          </a:p>
        </p:txBody>
      </p:sp>
    </p:spTree>
  </p:cSld>
  <p:clrMapOvr>
    <a:masterClrMapping/>
  </p:clrMapOvr>
  <p:transition spd="fast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456803" y="2380484"/>
            <a:ext cx="7278745" cy="5811968"/>
          </a:xfrm>
          <a:custGeom>
            <a:avLst/>
            <a:gdLst/>
            <a:ahLst/>
            <a:cxnLst/>
            <a:rect r="r" b="b" t="t" l="l"/>
            <a:pathLst>
              <a:path h="5811968" w="7278745">
                <a:moveTo>
                  <a:pt x="0" y="0"/>
                </a:moveTo>
                <a:lnTo>
                  <a:pt x="7278745" y="0"/>
                </a:lnTo>
                <a:lnTo>
                  <a:pt x="7278745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9750278" y="2380484"/>
            <a:ext cx="7278745" cy="5811968"/>
          </a:xfrm>
          <a:custGeom>
            <a:avLst/>
            <a:gdLst/>
            <a:ahLst/>
            <a:cxnLst/>
            <a:rect r="r" b="b" t="t" l="l"/>
            <a:pathLst>
              <a:path h="5811968" w="7278745">
                <a:moveTo>
                  <a:pt x="0" y="0"/>
                </a:moveTo>
                <a:lnTo>
                  <a:pt x="7278745" y="0"/>
                </a:lnTo>
                <a:lnTo>
                  <a:pt x="7278745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1: Implement the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7827403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400" b="1">
                <a:solidFill>
                  <a:srgbClr val="062D25"/>
                </a:solidFill>
                <a:latin typeface="TT Drugs Bold"/>
              </a:rPr>
              <a:t>Expt-8: VLAN Configuration with Layer-3 Switch &amp; Router using DHCP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2: Switch Configuration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sz="2100" b="0">
                <a:solidFill>
                  <a:srgbClr val="0F172A"/>
                </a:solidFill>
                <a:latin typeface="Poppins"/>
              </a:rPr>
              <a:t>Assigned switchports fa0/5-6 to VLAN 10, fa0/11-12 to VLAN 20, and configured fa0/1 as 802.1Q trunk.</a:t>
            </a:r>
          </a:p>
        </p:txBody>
      </p:sp>
    </p:spTree>
  </p:cSld>
  <p:clrMapOvr>
    <a:masterClrMapping/>
  </p:clrMapOvr>
  <p:transition spd="fast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8456709" y="2237516"/>
            <a:ext cx="9377671" cy="6271615"/>
          </a:xfrm>
          <a:custGeom>
            <a:avLst/>
            <a:gdLst/>
            <a:ahLst/>
            <a:cxnLst/>
            <a:rect r="r" b="b" t="t" l="l"/>
            <a:pathLst>
              <a:path h="6271615" w="9377671">
                <a:moveTo>
                  <a:pt x="0" y="0"/>
                </a:moveTo>
                <a:lnTo>
                  <a:pt x="9377672" y="0"/>
                </a:lnTo>
                <a:lnTo>
                  <a:pt x="9377672" y="6271615"/>
                </a:lnTo>
                <a:lnTo>
                  <a:pt x="0" y="6271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388727" y="2237516"/>
            <a:ext cx="7854395" cy="6271615"/>
          </a:xfrm>
          <a:custGeom>
            <a:avLst/>
            <a:gdLst/>
            <a:ahLst/>
            <a:cxnLst/>
            <a:rect r="r" b="b" t="t" l="l"/>
            <a:pathLst>
              <a:path h="6271615" w="7854395">
                <a:moveTo>
                  <a:pt x="0" y="0"/>
                </a:moveTo>
                <a:lnTo>
                  <a:pt x="7854394" y="0"/>
                </a:lnTo>
                <a:lnTo>
                  <a:pt x="7854394" y="6271615"/>
                </a:lnTo>
                <a:lnTo>
                  <a:pt x="0" y="6271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0664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400" b="1">
                <a:solidFill>
                  <a:srgbClr val="0F766E"/>
                </a:solidFill>
                <a:latin typeface="TT Drugs Bold"/>
              </a:rPr>
              <a:t>STEP 3: Router Sub-Interfaces &amp; DHCP Configuration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7850492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400" b="1">
                <a:solidFill>
                  <a:srgbClr val="062D25"/>
                </a:solidFill>
                <a:latin typeface="TT Drugs Bold"/>
              </a:rPr>
              <a:t>Expt-8: VLAN Configuration with Layer-3 Switch &amp; Router using DHCP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sz="2600" b="1">
                <a:solidFill>
                  <a:srgbClr val="0F766E"/>
                </a:solidFill>
                <a:latin typeface="TT Drugs Bold"/>
              </a:rPr>
              <a:t>STEP 4: Host Dynamic IP Acquisition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605417" y="2499820"/>
            <a:ext cx="15168968" cy="6922042"/>
          </a:xfrm>
          <a:custGeom>
            <a:avLst/>
            <a:gdLst/>
            <a:ahLst/>
            <a:cxnLst/>
            <a:rect r="r" b="b" t="t" l="l"/>
            <a:pathLst>
              <a:path h="6922042" w="15168968">
                <a:moveTo>
                  <a:pt x="0" y="0"/>
                </a:moveTo>
                <a:lnTo>
                  <a:pt x="15168968" y="0"/>
                </a:lnTo>
                <a:lnTo>
                  <a:pt x="15168968" y="6922041"/>
                </a:lnTo>
                <a:lnTo>
                  <a:pt x="0" y="6922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388727" y="1433020"/>
            <a:ext cx="116664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sz="2500" b="1">
                <a:solidFill>
                  <a:srgbClr val="0F766E"/>
                </a:solidFill>
                <a:latin typeface="TT Drugs Bold"/>
              </a:rPr>
              <a:t>STEP 5: Dynamic Flow Verification in Simulation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7705664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sz="3400" b="1">
                <a:solidFill>
                  <a:srgbClr val="062D25"/>
                </a:solidFill>
                <a:latin typeface="TT Drugs Bold"/>
              </a:rPr>
              <a:t>Expt-8: VLAN Configuration with Layer-3 Switch &amp; Router using DHCP</a:t>
            </a:r>
          </a:p>
        </p:txBody>
      </p:sp>
    </p:spTree>
  </p:cSld>
  <p:clrMapOvr>
    <a:masterClrMapping/>
  </p:clrMapOvr>
  <p:transition spd="fast">
    <p:push dir="l"/>
  </p:transition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01D">
                <a:alpha val="100000"/>
              </a:srgbClr>
            </a:gs>
            <a:gs pos="100000">
              <a:srgbClr val="011311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485" y="3578856"/>
            <a:ext cx="13129030" cy="280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9"/>
              </a:lnSpc>
              <a:spcBef>
                <a:spcPct val="0"/>
              </a:spcBef>
            </a:pPr>
            <a:r>
              <a:rPr sz="16299" b="1">
                <a:solidFill>
                  <a:srgbClr val="00D29E"/>
                </a:solidFill>
                <a:latin typeface="Bebas Neue Cyrillic"/>
              </a:rPr>
              <a:t>THANK YOU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DAHX_9bqCgY</dc:identifier>
  <dcterms:modified xsi:type="dcterms:W3CDTF">2011-08-01T06:04:30Z</dcterms:modified>
  <cp:revision>1</cp:revision>
  <dc:title>CN.pptx</dc:title>
</cp:coreProperties>
</file>