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Bebas Neue Cyrillic" charset="1" panose="02000506000000020004"/>
      <p:regular r:id="rId39"/>
    </p:embeddedFont>
    <p:embeddedFont>
      <p:font typeface="TT Drugs Bold Italics" charset="1" panose="02000803000000090003"/>
      <p:regular r:id="rId40"/>
    </p:embeddedFont>
    <p:embeddedFont>
      <p:font typeface="TT Drugs Bold" charset="1" panose="02000803060000020003"/>
      <p:regular r:id="rId41"/>
    </p:embeddedFont>
    <p:embeddedFont>
      <p:font typeface="Poppins" charset="1" panose="00000500000000000000"/>
      <p:regular r:id="rId42"/>
    </p:embeddedFont>
    <p:embeddedFont>
      <p:font typeface="Poppins Bold" charset="1" panose="00000800000000000000"/>
      <p:regular r:id="rId43"/>
    </p:embeddedFont>
    <p:embeddedFont>
      <p:font typeface="Inter" charset="1" panose="02000503000000020004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5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6.png" Type="http://schemas.openxmlformats.org/officeDocument/2006/relationships/image"/><Relationship Id="rId4" Target="../media/image4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5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9485" y="3578856"/>
            <a:ext cx="13129030" cy="280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19"/>
              </a:lnSpc>
              <a:spcBef>
                <a:spcPct val="0"/>
              </a:spcBef>
            </a:pPr>
            <a:r>
              <a:rPr lang="en-US" sz="16299">
                <a:solidFill>
                  <a:srgbClr val="4D91A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CO</a:t>
            </a:r>
            <a:r>
              <a:rPr lang="en-US" sz="16299">
                <a:solidFill>
                  <a:srgbClr val="4D91A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MPUTER NETWORK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7194" y="352425"/>
            <a:ext cx="10304431" cy="96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b="true" sz="2000" i="true">
                <a:solidFill>
                  <a:srgbClr val="FFFFFF"/>
                </a:solidFill>
                <a:latin typeface="TT Drugs Bold Italics"/>
                <a:ea typeface="TT Drugs Bold Italics"/>
                <a:cs typeface="TT Drugs Bold Italics"/>
                <a:sym typeface="TT Drugs Bold Italics"/>
              </a:rPr>
              <a:t>Course Title: Computer Networks Laboratory</a:t>
            </a:r>
          </a:p>
          <a:p>
            <a:pPr algn="l">
              <a:lnSpc>
                <a:spcPts val="4000"/>
              </a:lnSpc>
            </a:pPr>
            <a:r>
              <a:rPr lang="en-US" b="true" sz="2000" i="true">
                <a:solidFill>
                  <a:srgbClr val="FFFFFF"/>
                </a:solidFill>
                <a:latin typeface="TT Drugs Bold Italics"/>
                <a:ea typeface="TT Drugs Bold Italics"/>
                <a:cs typeface="TT Drugs Bold Italics"/>
                <a:sym typeface="TT Drugs Bold Italics"/>
              </a:rPr>
              <a:t>Course Code: CSE-360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27194" y="8602182"/>
            <a:ext cx="6301556" cy="977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 spc="832" b="true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PRESENTED BY: MARUFA</a:t>
            </a:r>
          </a:p>
          <a:p>
            <a:pPr algn="l">
              <a:lnSpc>
                <a:spcPts val="3900"/>
              </a:lnSpc>
            </a:pPr>
            <a:r>
              <a:rPr lang="en-US" sz="2600" spc="832" b="true">
                <a:solidFill>
                  <a:srgbClr val="FFFFFF"/>
                </a:solidFill>
                <a:latin typeface="TT Drugs Bold"/>
                <a:ea typeface="TT Drugs Bold"/>
                <a:cs typeface="TT Drugs Bold"/>
                <a:sym typeface="TT Drugs Bold"/>
              </a:rPr>
              <a:t>ROLL: 365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650630"/>
            <a:ext cx="16800845" cy="2065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8"/>
              </a:lnSpc>
            </a:pPr>
            <a:r>
              <a:rPr lang="en-US" sz="6630" b="true">
                <a:solidFill>
                  <a:srgbClr val="F5F3EE"/>
                </a:solidFill>
                <a:latin typeface="TT Drugs Bold"/>
                <a:ea typeface="TT Drugs Bold"/>
                <a:cs typeface="TT Drugs Bold"/>
                <a:sym typeface="TT Drugs Bold"/>
              </a:rPr>
              <a:t>Lab 1: Wireshark — Ethernet and ARP</a:t>
            </a:r>
          </a:p>
          <a:p>
            <a:pPr algn="l">
              <a:lnSpc>
                <a:spcPts val="8189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01885" y="2125911"/>
            <a:ext cx="13084230" cy="6583003"/>
          </a:xfrm>
          <a:custGeom>
            <a:avLst/>
            <a:gdLst/>
            <a:ahLst/>
            <a:cxnLst/>
            <a:rect r="r" b="b" t="t" l="l"/>
            <a:pathLst>
              <a:path h="6583003" w="13084230">
                <a:moveTo>
                  <a:pt x="0" y="0"/>
                </a:moveTo>
                <a:lnTo>
                  <a:pt x="13084230" y="0"/>
                </a:lnTo>
                <a:lnTo>
                  <a:pt x="13084230" y="6583004"/>
                </a:lnTo>
                <a:lnTo>
                  <a:pt x="0" y="6583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2699" y="259540"/>
            <a:ext cx="11535277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1. Capturing and Analyzing Ethernet Frames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4379" y="1225428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HTTP GET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 Request and Encapsulation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699" y="8916556"/>
            <a:ext cx="1733057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Shows the client requesting the lab webpage using an HTTP GET message. Crucially, it illustrates Link-Layer encapsulation: while the IP destination points to the remote web server, the Ethernet destination MAC points to the local default gateway router. 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78874" y="1879505"/>
            <a:ext cx="11592436" cy="6527991"/>
          </a:xfrm>
          <a:custGeom>
            <a:avLst/>
            <a:gdLst/>
            <a:ahLst/>
            <a:cxnLst/>
            <a:rect r="r" b="b" t="t" l="l"/>
            <a:pathLst>
              <a:path h="6527991" w="11592436">
                <a:moveTo>
                  <a:pt x="0" y="0"/>
                </a:moveTo>
                <a:lnTo>
                  <a:pt x="11592436" y="0"/>
                </a:lnTo>
                <a:lnTo>
                  <a:pt x="11592436" y="6527990"/>
                </a:lnTo>
                <a:lnTo>
                  <a:pt x="0" y="6527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3944" y="1125173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ARP Traffic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2699" y="305435"/>
            <a:ext cx="14357839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2. The</a:t>
            </a:r>
            <a:r>
              <a:rPr lang="en-US" b="true" sz="37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 Address Resolution Protocol (ARP)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699" y="8962208"/>
            <a:ext cx="1733057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Shows the full list of captured ARP packets filtered in the trace. It highlights that ARP requests are sent as Link-Layer broadcasts (ff:ff:ff:ff:ff:ff) so every host on the subnet receives the query asking who owns a specific IP. 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78874" y="1879505"/>
            <a:ext cx="11592436" cy="6527991"/>
          </a:xfrm>
          <a:custGeom>
            <a:avLst/>
            <a:gdLst/>
            <a:ahLst/>
            <a:cxnLst/>
            <a:rect r="r" b="b" t="t" l="l"/>
            <a:pathLst>
              <a:path h="6527991" w="11592436">
                <a:moveTo>
                  <a:pt x="0" y="0"/>
                </a:moveTo>
                <a:lnTo>
                  <a:pt x="11592436" y="0"/>
                </a:lnTo>
                <a:lnTo>
                  <a:pt x="11592436" y="6527990"/>
                </a:lnTo>
                <a:lnTo>
                  <a:pt x="0" y="6527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9162" y="1146080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ARP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 Request Packet Structure (Internal Details)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2699" y="305435"/>
            <a:ext cx="14357839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3. </a:t>
            </a:r>
            <a:r>
              <a:rPr lang="en-US" b="true" sz="37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ARP Manipulation &amp; Timing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9162" y="8867775"/>
            <a:ext cx="1733057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Shows the internal fields of an ARP request (Packet 1), displaying an Opcode of 1 (request), the sender's IP/MAC, the queried target IP (128.119.247.77), and the highlighted 0x0806 Ethernet Type field in the hex pane.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44664" y="4620195"/>
            <a:ext cx="15598672" cy="102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9"/>
              </a:lnSpc>
            </a:pPr>
            <a:r>
              <a:rPr lang="en-US" sz="6630" b="true">
                <a:solidFill>
                  <a:srgbClr val="F5F3EE"/>
                </a:solidFill>
                <a:latin typeface="TT Drugs Bold"/>
                <a:ea typeface="TT Drugs Bold"/>
                <a:cs typeface="TT Drugs Bold"/>
                <a:sym typeface="TT Drugs Bold"/>
              </a:rPr>
              <a:t>Lab 2: Introduction to Packet Tracer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2699" y="259540"/>
            <a:ext cx="9557017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Expt-1: Basic Client Server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4915" y="1111236"/>
            <a:ext cx="707084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Part 1: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1: Ports and cabling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34915" y="2482835"/>
            <a:ext cx="4242244" cy="3970620"/>
            <a:chOff x="0" y="0"/>
            <a:chExt cx="5656326" cy="5294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56326" cy="5294122"/>
            </a:xfrm>
            <a:custGeom>
              <a:avLst/>
              <a:gdLst/>
              <a:ahLst/>
              <a:cxnLst/>
              <a:rect r="r" b="b" t="t" l="l"/>
              <a:pathLst>
                <a:path h="5294122" w="5656326">
                  <a:moveTo>
                    <a:pt x="0" y="0"/>
                  </a:moveTo>
                  <a:lnTo>
                    <a:pt x="5656326" y="0"/>
                  </a:lnTo>
                  <a:lnTo>
                    <a:pt x="5656326" y="5294122"/>
                  </a:lnTo>
                  <a:lnTo>
                    <a:pt x="0" y="52941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3"/>
              </a:stretch>
            </a:blipFill>
          </p:spPr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434915" y="6883993"/>
          <a:ext cx="4374852" cy="2524414"/>
        </p:xfrm>
        <a:graphic>
          <a:graphicData uri="http://schemas.openxmlformats.org/drawingml/2006/table">
            <a:tbl>
              <a:tblPr/>
              <a:tblGrid>
                <a:gridCol w="883622"/>
                <a:gridCol w="1752443"/>
                <a:gridCol w="1738787"/>
              </a:tblGrid>
              <a:tr h="6332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6283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Device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6283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IP Address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062837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Subnet Mask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45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6283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Server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6283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192.168.0.105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6283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255.255.255.0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66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6283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Client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6283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192.168.0.110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62837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255.255.255.0</a:t>
                      </a:r>
                      <a:endParaRPr lang="en-US" sz="1100"/>
                    </a:p>
                  </a:txBody>
                  <a:tcPr marL="36000" marR="36000" marT="36000" marB="36000" anchor="ctr">
                    <a:lnL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2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4809768" y="3931508"/>
            <a:ext cx="4334232" cy="1025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1942">
                <a:solidFill>
                  <a:srgbClr val="14213D"/>
                </a:solidFill>
                <a:latin typeface="Inter"/>
                <a:ea typeface="Inter"/>
                <a:cs typeface="Inter"/>
                <a:sym typeface="Inter"/>
              </a:rPr>
              <a:t>Dashed lines are crossover cables. Green triangles mean the link is up.</a:t>
            </a:r>
          </a:p>
          <a:p>
            <a:pPr algn="l">
              <a:lnSpc>
                <a:spcPts val="273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013382" y="7826189"/>
            <a:ext cx="371232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 Ip configuration of client and server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4673" y="1111236"/>
            <a:ext cx="707084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2: Client Configuration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74673" y="2655255"/>
            <a:ext cx="7200357" cy="4228738"/>
            <a:chOff x="0" y="0"/>
            <a:chExt cx="9600476" cy="56383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00438" cy="5638292"/>
            </a:xfrm>
            <a:custGeom>
              <a:avLst/>
              <a:gdLst/>
              <a:ahLst/>
              <a:cxnLst/>
              <a:rect r="r" b="b" t="t" l="l"/>
              <a:pathLst>
                <a:path h="5638292" w="9600438">
                  <a:moveTo>
                    <a:pt x="0" y="0"/>
                  </a:moveTo>
                  <a:lnTo>
                    <a:pt x="9600438" y="0"/>
                  </a:lnTo>
                  <a:lnTo>
                    <a:pt x="9600438" y="5638292"/>
                  </a:lnTo>
                  <a:lnTo>
                    <a:pt x="0" y="5638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8569" t="0" r="0" b="-3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474673" y="7858393"/>
            <a:ext cx="692154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Click on client and configure it using IP address of DNS server like below.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4673" y="8294464"/>
            <a:ext cx="548783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Click on FastEthernet and put IP address of the client like: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4480" y="152540"/>
            <a:ext cx="70708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P 3: Server Configuration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6244" y="1028700"/>
            <a:ext cx="7228213" cy="4277627"/>
            <a:chOff x="0" y="0"/>
            <a:chExt cx="9847440" cy="58276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847453" cy="5827649"/>
            </a:xfrm>
            <a:custGeom>
              <a:avLst/>
              <a:gdLst/>
              <a:ahLst/>
              <a:cxnLst/>
              <a:rect r="r" b="b" t="t" l="l"/>
              <a:pathLst>
                <a:path h="5827649" w="9847453">
                  <a:moveTo>
                    <a:pt x="0" y="0"/>
                  </a:moveTo>
                  <a:lnTo>
                    <a:pt x="9847453" y="0"/>
                  </a:lnTo>
                  <a:lnTo>
                    <a:pt x="9847453" y="5827649"/>
                  </a:lnTo>
                  <a:lnTo>
                    <a:pt x="0" y="5827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" r="0" b="-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84934" y="5480376"/>
            <a:ext cx="7229523" cy="4456624"/>
            <a:chOff x="0" y="0"/>
            <a:chExt cx="9639364" cy="59421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39300" cy="5942203"/>
            </a:xfrm>
            <a:custGeom>
              <a:avLst/>
              <a:gdLst/>
              <a:ahLst/>
              <a:cxnLst/>
              <a:rect r="r" b="b" t="t" l="l"/>
              <a:pathLst>
                <a:path h="5942203" w="9639300">
                  <a:moveTo>
                    <a:pt x="0" y="0"/>
                  </a:moveTo>
                  <a:lnTo>
                    <a:pt x="9639300" y="0"/>
                  </a:lnTo>
                  <a:lnTo>
                    <a:pt x="9639300" y="5942203"/>
                  </a:lnTo>
                  <a:lnTo>
                    <a:pt x="0" y="59422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" r="0" b="-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188454" y="152540"/>
            <a:ext cx="70708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P 4: Verification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347215" y="832845"/>
            <a:ext cx="4798771" cy="3961198"/>
            <a:chOff x="0" y="0"/>
            <a:chExt cx="8856726" cy="73108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856726" cy="7310882"/>
            </a:xfrm>
            <a:custGeom>
              <a:avLst/>
              <a:gdLst/>
              <a:ahLst/>
              <a:cxnLst/>
              <a:rect r="r" b="b" t="t" l="l"/>
              <a:pathLst>
                <a:path h="7310882" w="8856726">
                  <a:moveTo>
                    <a:pt x="0" y="0"/>
                  </a:moveTo>
                  <a:lnTo>
                    <a:pt x="8856726" y="0"/>
                  </a:lnTo>
                  <a:lnTo>
                    <a:pt x="8856726" y="7310882"/>
                  </a:lnTo>
                  <a:lnTo>
                    <a:pt x="0" y="7310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" r="0" b="-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673303" y="4794043"/>
            <a:ext cx="8585997" cy="5142957"/>
            <a:chOff x="0" y="0"/>
            <a:chExt cx="11447996" cy="68572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48034" cy="6857238"/>
            </a:xfrm>
            <a:custGeom>
              <a:avLst/>
              <a:gdLst/>
              <a:ahLst/>
              <a:cxnLst/>
              <a:rect r="r" b="b" t="t" l="l"/>
              <a:pathLst>
                <a:path h="6857238" w="11448034">
                  <a:moveTo>
                    <a:pt x="0" y="0"/>
                  </a:moveTo>
                  <a:lnTo>
                    <a:pt x="11448034" y="0"/>
                  </a:lnTo>
                  <a:lnTo>
                    <a:pt x="11448034" y="6857238"/>
                  </a:lnTo>
                  <a:lnTo>
                    <a:pt x="0" y="6857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" r="0" b="-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004312" y="3717928"/>
            <a:ext cx="525498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Verification by sending test packet and pinging in the command prompt of client</a:t>
            </a: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4480" y="291497"/>
            <a:ext cx="7070846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Part 2: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1: DNS Server Configuration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600601" y="824897"/>
            <a:ext cx="70708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P 2: IP Configuration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04480" y="1882171"/>
            <a:ext cx="11472301" cy="5557142"/>
            <a:chOff x="0" y="0"/>
            <a:chExt cx="15296401" cy="7409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96387" cy="7409561"/>
            </a:xfrm>
            <a:custGeom>
              <a:avLst/>
              <a:gdLst/>
              <a:ahLst/>
              <a:cxnLst/>
              <a:rect r="r" b="b" t="t" l="l"/>
              <a:pathLst>
                <a:path h="7409561" w="15296387">
                  <a:moveTo>
                    <a:pt x="0" y="0"/>
                  </a:moveTo>
                  <a:lnTo>
                    <a:pt x="15296387" y="0"/>
                  </a:lnTo>
                  <a:lnTo>
                    <a:pt x="15296387" y="7409561"/>
                  </a:lnTo>
                  <a:lnTo>
                    <a:pt x="0" y="74095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94496" y="1882171"/>
            <a:ext cx="5603043" cy="3231356"/>
            <a:chOff x="0" y="0"/>
            <a:chExt cx="7470724" cy="43084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0775" cy="4308475"/>
            </a:xfrm>
            <a:custGeom>
              <a:avLst/>
              <a:gdLst/>
              <a:ahLst/>
              <a:cxnLst/>
              <a:rect r="r" b="b" t="t" l="l"/>
              <a:pathLst>
                <a:path h="4308475" w="7470775">
                  <a:moveTo>
                    <a:pt x="0" y="0"/>
                  </a:moveTo>
                  <a:lnTo>
                    <a:pt x="7470775" y="0"/>
                  </a:lnTo>
                  <a:lnTo>
                    <a:pt x="7470775" y="4308475"/>
                  </a:lnTo>
                  <a:lnTo>
                    <a:pt x="0" y="4308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194496" y="4353757"/>
            <a:ext cx="5603043" cy="3085557"/>
            <a:chOff x="0" y="0"/>
            <a:chExt cx="7470724" cy="41140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470725" cy="4114038"/>
            </a:xfrm>
            <a:custGeom>
              <a:avLst/>
              <a:gdLst/>
              <a:ahLst/>
              <a:cxnLst/>
              <a:rect r="r" b="b" t="t" l="l"/>
              <a:pathLst>
                <a:path h="4114038" w="7470725">
                  <a:moveTo>
                    <a:pt x="0" y="0"/>
                  </a:moveTo>
                  <a:lnTo>
                    <a:pt x="7470725" y="0"/>
                  </a:lnTo>
                  <a:lnTo>
                    <a:pt x="7470725" y="4114038"/>
                  </a:lnTo>
                  <a:lnTo>
                    <a:pt x="0" y="4114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362" r="0" b="-2362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26219" y="8610600"/>
            <a:ext cx="1757146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Connecting 2 network through router where in each network there are 2 pcs and 2 server and 1 switch . Also in step two ip configure both PC and server.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4480" y="609740"/>
            <a:ext cx="70708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P 3: Router Configuration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76688" y="609740"/>
            <a:ext cx="70708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P 4: Server Configuration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04480" y="1995045"/>
            <a:ext cx="7700401" cy="4871342"/>
            <a:chOff x="0" y="0"/>
            <a:chExt cx="10267201" cy="64951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67188" cy="6495161"/>
            </a:xfrm>
            <a:custGeom>
              <a:avLst/>
              <a:gdLst/>
              <a:ahLst/>
              <a:cxnLst/>
              <a:rect r="r" b="b" t="t" l="l"/>
              <a:pathLst>
                <a:path h="6495161" w="10267188">
                  <a:moveTo>
                    <a:pt x="0" y="0"/>
                  </a:moveTo>
                  <a:lnTo>
                    <a:pt x="10267188" y="0"/>
                  </a:lnTo>
                  <a:lnTo>
                    <a:pt x="10267188" y="6495161"/>
                  </a:lnTo>
                  <a:lnTo>
                    <a:pt x="0" y="6495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04480" y="7418193"/>
            <a:ext cx="754320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Click on router and configure it for port fa 0/0 and 0/1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63647" y="2272229"/>
            <a:ext cx="8483887" cy="4316976"/>
            <a:chOff x="0" y="0"/>
            <a:chExt cx="9810001" cy="4991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09988" cy="4991735"/>
            </a:xfrm>
            <a:custGeom>
              <a:avLst/>
              <a:gdLst/>
              <a:ahLst/>
              <a:cxnLst/>
              <a:rect r="r" b="b" t="t" l="l"/>
              <a:pathLst>
                <a:path h="4991735" w="9809988">
                  <a:moveTo>
                    <a:pt x="0" y="0"/>
                  </a:moveTo>
                  <a:lnTo>
                    <a:pt x="9809988" y="0"/>
                  </a:lnTo>
                  <a:lnTo>
                    <a:pt x="9809988" y="4991735"/>
                  </a:lnTo>
                  <a:lnTo>
                    <a:pt x="0" y="49917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" r="0" b="-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458678" y="7261030"/>
            <a:ext cx="8288856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Click on DNS then put DNS name, IP address then click on add button for each of the server of du(server 1) and ju(server 0) .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4480" y="609740"/>
            <a:ext cx="70708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 5: Loading html code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04480" y="1853492"/>
            <a:ext cx="8313839" cy="5074377"/>
            <a:chOff x="0" y="0"/>
            <a:chExt cx="11085119" cy="67658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85068" cy="6765798"/>
            </a:xfrm>
            <a:custGeom>
              <a:avLst/>
              <a:gdLst/>
              <a:ahLst/>
              <a:cxnLst/>
              <a:rect r="r" b="b" t="t" l="l"/>
              <a:pathLst>
                <a:path h="6765798" w="11085068">
                  <a:moveTo>
                    <a:pt x="0" y="0"/>
                  </a:moveTo>
                  <a:lnTo>
                    <a:pt x="11085068" y="0"/>
                  </a:lnTo>
                  <a:lnTo>
                    <a:pt x="11085068" y="6765798"/>
                  </a:lnTo>
                  <a:lnTo>
                    <a:pt x="0" y="6765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" r="0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0" y="1853492"/>
            <a:ext cx="8313484" cy="5074377"/>
            <a:chOff x="0" y="0"/>
            <a:chExt cx="10335603" cy="63086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35641" cy="6308598"/>
            </a:xfrm>
            <a:custGeom>
              <a:avLst/>
              <a:gdLst/>
              <a:ahLst/>
              <a:cxnLst/>
              <a:rect r="r" b="b" t="t" l="l"/>
              <a:pathLst>
                <a:path h="6308598" w="10335641">
                  <a:moveTo>
                    <a:pt x="0" y="0"/>
                  </a:moveTo>
                  <a:lnTo>
                    <a:pt x="10335641" y="0"/>
                  </a:lnTo>
                  <a:lnTo>
                    <a:pt x="10335641" y="6308598"/>
                  </a:lnTo>
                  <a:lnTo>
                    <a:pt x="0" y="6308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04480" y="7632719"/>
            <a:ext cx="9281483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Loading  the specific html code for du and ju DNS server. </a:t>
            </a: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4480" y="609740"/>
            <a:ext cx="70708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 6: Verification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51107" y="1864293"/>
            <a:ext cx="7227360" cy="5825519"/>
            <a:chOff x="0" y="0"/>
            <a:chExt cx="9636481" cy="77673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636506" cy="7767320"/>
            </a:xfrm>
            <a:custGeom>
              <a:avLst/>
              <a:gdLst/>
              <a:ahLst/>
              <a:cxnLst/>
              <a:rect r="r" b="b" t="t" l="l"/>
              <a:pathLst>
                <a:path h="7767320" w="9636506">
                  <a:moveTo>
                    <a:pt x="0" y="0"/>
                  </a:moveTo>
                  <a:lnTo>
                    <a:pt x="9636506" y="0"/>
                  </a:lnTo>
                  <a:lnTo>
                    <a:pt x="9636506" y="7767320"/>
                  </a:lnTo>
                  <a:lnTo>
                    <a:pt x="0" y="7767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12050" y="1864293"/>
            <a:ext cx="7200900" cy="5803916"/>
            <a:chOff x="0" y="0"/>
            <a:chExt cx="9601200" cy="77385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01200" cy="7738618"/>
            </a:xfrm>
            <a:custGeom>
              <a:avLst/>
              <a:gdLst/>
              <a:ahLst/>
              <a:cxnLst/>
              <a:rect r="r" b="b" t="t" l="l"/>
              <a:pathLst>
                <a:path h="7738618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7738618"/>
                  </a:lnTo>
                  <a:lnTo>
                    <a:pt x="0" y="7738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" r="0" b="-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751107" y="8269596"/>
            <a:ext cx="1308609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Verify using the web browser of the pcs , here it is done using the pc0 and pc2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33794" y="4544108"/>
            <a:ext cx="15598672" cy="2065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8"/>
              </a:lnSpc>
            </a:pPr>
            <a:r>
              <a:rPr lang="en-US" sz="6630" b="true">
                <a:solidFill>
                  <a:srgbClr val="F5F3EE"/>
                </a:solidFill>
                <a:latin typeface="TT Drugs Bold"/>
                <a:ea typeface="TT Drugs Bold"/>
                <a:cs typeface="TT Drugs Bold"/>
                <a:sym typeface="TT Drugs Bold"/>
              </a:rPr>
              <a:t>Lab 4: Connection of Routers</a:t>
            </a:r>
          </a:p>
          <a:p>
            <a:pPr algn="just">
              <a:lnSpc>
                <a:spcPts val="8189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8727" y="2551714"/>
            <a:ext cx="6877774" cy="3009026"/>
          </a:xfrm>
          <a:custGeom>
            <a:avLst/>
            <a:gdLst/>
            <a:ahLst/>
            <a:cxnLst/>
            <a:rect r="r" b="b" t="t" l="l"/>
            <a:pathLst>
              <a:path h="3009026" w="6877774">
                <a:moveTo>
                  <a:pt x="0" y="0"/>
                </a:moveTo>
                <a:lnTo>
                  <a:pt x="6877773" y="0"/>
                </a:lnTo>
                <a:lnTo>
                  <a:pt x="6877773" y="3009026"/>
                </a:lnTo>
                <a:lnTo>
                  <a:pt x="0" y="3009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8727" y="5732148"/>
            <a:ext cx="9419526" cy="4121043"/>
          </a:xfrm>
          <a:custGeom>
            <a:avLst/>
            <a:gdLst/>
            <a:ahLst/>
            <a:cxnLst/>
            <a:rect r="r" b="b" t="t" l="l"/>
            <a:pathLst>
              <a:path h="4121043" w="9419526">
                <a:moveTo>
                  <a:pt x="0" y="0"/>
                </a:moveTo>
                <a:lnTo>
                  <a:pt x="9419526" y="0"/>
                </a:lnTo>
                <a:lnTo>
                  <a:pt x="9419526" y="4121043"/>
                </a:lnTo>
                <a:lnTo>
                  <a:pt x="0" y="4121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83559" y="2551714"/>
            <a:ext cx="7593627" cy="4331481"/>
          </a:xfrm>
          <a:custGeom>
            <a:avLst/>
            <a:gdLst/>
            <a:ahLst/>
            <a:cxnLst/>
            <a:rect r="r" b="b" t="t" l="l"/>
            <a:pathLst>
              <a:path h="4331481" w="7593627">
                <a:moveTo>
                  <a:pt x="0" y="0"/>
                </a:moveTo>
                <a:lnTo>
                  <a:pt x="7593628" y="0"/>
                </a:lnTo>
                <a:lnTo>
                  <a:pt x="7593628" y="4331481"/>
                </a:lnTo>
                <a:lnTo>
                  <a:pt x="0" y="4331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8727" y="1433020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1: Ports and cabling &amp; IP configuration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699" y="305435"/>
            <a:ext cx="8978756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Expt-3: Connection of Two Routers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73731" y="1433020"/>
            <a:ext cx="48034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2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: Router Configure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83559" y="7454695"/>
            <a:ext cx="759362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In step 2, first configure Router0, then Router1, and then Router0 and Router1 again.</a:t>
            </a:r>
          </a:p>
        </p:txBody>
      </p: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4480" y="1745048"/>
            <a:ext cx="10576944" cy="4194924"/>
          </a:xfrm>
          <a:custGeom>
            <a:avLst/>
            <a:gdLst/>
            <a:ahLst/>
            <a:cxnLst/>
            <a:rect r="r" b="b" t="t" l="l"/>
            <a:pathLst>
              <a:path h="4194924" w="10576944">
                <a:moveTo>
                  <a:pt x="0" y="0"/>
                </a:moveTo>
                <a:lnTo>
                  <a:pt x="10576945" y="0"/>
                </a:lnTo>
                <a:lnTo>
                  <a:pt x="10576945" y="4194923"/>
                </a:lnTo>
                <a:lnTo>
                  <a:pt x="0" y="4194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32007" y="6122580"/>
            <a:ext cx="10308374" cy="1998360"/>
          </a:xfrm>
          <a:custGeom>
            <a:avLst/>
            <a:gdLst/>
            <a:ahLst/>
            <a:cxnLst/>
            <a:rect r="r" b="b" t="t" l="l"/>
            <a:pathLst>
              <a:path h="1998360" w="10308374">
                <a:moveTo>
                  <a:pt x="0" y="0"/>
                </a:moveTo>
                <a:lnTo>
                  <a:pt x="10308374" y="0"/>
                </a:lnTo>
                <a:lnTo>
                  <a:pt x="10308374" y="1998360"/>
                </a:lnTo>
                <a:lnTo>
                  <a:pt x="0" y="19983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4480" y="609740"/>
            <a:ext cx="707084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 3: Verification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9803" y="8596991"/>
            <a:ext cx="1733057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To verify the connection, send a packet from one PC to another and start the simulation. The packet transmit successfully.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1309" y="2490295"/>
            <a:ext cx="7218721" cy="3423599"/>
            <a:chOff x="0" y="0"/>
            <a:chExt cx="9624962" cy="4564799"/>
          </a:xfrm>
        </p:grpSpPr>
        <p:sp>
          <p:nvSpPr>
            <p:cNvPr name="Freeform 4" id="4" descr="Part 2 topology: PC0, Router0, Hub0 with PC1, Router1, PC2"/>
            <p:cNvSpPr/>
            <p:nvPr/>
          </p:nvSpPr>
          <p:spPr>
            <a:xfrm flipH="false" flipV="false" rot="0">
              <a:off x="0" y="0"/>
              <a:ext cx="9624950" cy="4564761"/>
            </a:xfrm>
            <a:custGeom>
              <a:avLst/>
              <a:gdLst/>
              <a:ahLst/>
              <a:cxnLst/>
              <a:rect r="r" b="b" t="t" l="l"/>
              <a:pathLst>
                <a:path h="4564761" w="9624950">
                  <a:moveTo>
                    <a:pt x="0" y="60579"/>
                  </a:moveTo>
                  <a:cubicBezTo>
                    <a:pt x="0" y="39624"/>
                    <a:pt x="4699" y="18923"/>
                    <a:pt x="13843" y="0"/>
                  </a:cubicBezTo>
                  <a:lnTo>
                    <a:pt x="9611106" y="0"/>
                  </a:lnTo>
                  <a:cubicBezTo>
                    <a:pt x="9620250" y="18923"/>
                    <a:pt x="9624950" y="39624"/>
                    <a:pt x="9624950" y="60579"/>
                  </a:cubicBezTo>
                  <a:lnTo>
                    <a:pt x="9624950" y="4504182"/>
                  </a:lnTo>
                  <a:cubicBezTo>
                    <a:pt x="9624950" y="4525137"/>
                    <a:pt x="9620250" y="4545838"/>
                    <a:pt x="9611106" y="4564761"/>
                  </a:cubicBezTo>
                  <a:lnTo>
                    <a:pt x="13843" y="4564761"/>
                  </a:lnTo>
                  <a:cubicBezTo>
                    <a:pt x="4699" y="4545838"/>
                    <a:pt x="0" y="4525137"/>
                    <a:pt x="0" y="4504182"/>
                  </a:cubicBezTo>
                  <a:close/>
                </a:path>
              </a:pathLst>
            </a:custGeom>
            <a:blipFill>
              <a:blip r:embed="rId3"/>
              <a:stretch>
                <a:fillRect l="0" t="-7" r="0" b="-8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604687" y="2490295"/>
            <a:ext cx="8172499" cy="6465832"/>
          </a:xfrm>
          <a:custGeom>
            <a:avLst/>
            <a:gdLst/>
            <a:ahLst/>
            <a:cxnLst/>
            <a:rect r="r" b="b" t="t" l="l"/>
            <a:pathLst>
              <a:path h="6465832" w="8172499">
                <a:moveTo>
                  <a:pt x="0" y="0"/>
                </a:moveTo>
                <a:lnTo>
                  <a:pt x="8172500" y="0"/>
                </a:lnTo>
                <a:lnTo>
                  <a:pt x="8172500" y="6465831"/>
                </a:lnTo>
                <a:lnTo>
                  <a:pt x="0" y="64658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1309" y="6271664"/>
            <a:ext cx="7218721" cy="2684462"/>
          </a:xfrm>
          <a:custGeom>
            <a:avLst/>
            <a:gdLst/>
            <a:ahLst/>
            <a:cxnLst/>
            <a:rect r="r" b="b" t="t" l="l"/>
            <a:pathLst>
              <a:path h="2684462" w="7218721">
                <a:moveTo>
                  <a:pt x="0" y="0"/>
                </a:moveTo>
                <a:lnTo>
                  <a:pt x="7218721" y="0"/>
                </a:lnTo>
                <a:lnTo>
                  <a:pt x="7218721" y="2684462"/>
                </a:lnTo>
                <a:lnTo>
                  <a:pt x="0" y="26844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1309" y="1433020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1: Ports and cabling &amp; IP configuration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2699" y="457835"/>
            <a:ext cx="17474487" cy="50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  <a:spcBef>
                <a:spcPct val="0"/>
              </a:spcBef>
            </a:pPr>
            <a:r>
              <a:rPr lang="en-US" b="true" sz="37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Expt-4: Connection two routers and incorporation of host between them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73731" y="1433020"/>
            <a:ext cx="48034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2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: Router Configure</a:t>
            </a:r>
          </a:p>
        </p:txBody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32007" y="6122580"/>
            <a:ext cx="10308374" cy="1998360"/>
          </a:xfrm>
          <a:custGeom>
            <a:avLst/>
            <a:gdLst/>
            <a:ahLst/>
            <a:cxnLst/>
            <a:rect r="r" b="b" t="t" l="l"/>
            <a:pathLst>
              <a:path h="1998360" w="10308374">
                <a:moveTo>
                  <a:pt x="0" y="0"/>
                </a:moveTo>
                <a:lnTo>
                  <a:pt x="10308374" y="0"/>
                </a:lnTo>
                <a:lnTo>
                  <a:pt x="10308374" y="1998360"/>
                </a:lnTo>
                <a:lnTo>
                  <a:pt x="0" y="19983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4480" y="609740"/>
            <a:ext cx="707084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 3: Verify The Network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09803" y="8596991"/>
            <a:ext cx="1733057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To verify the connection, send a packet from one PC to another and start the simulation. The packet transmit successfully.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09803" y="1461475"/>
            <a:ext cx="9580522" cy="4543723"/>
            <a:chOff x="0" y="0"/>
            <a:chExt cx="9624962" cy="4564799"/>
          </a:xfrm>
        </p:grpSpPr>
        <p:sp>
          <p:nvSpPr>
            <p:cNvPr name="Freeform 7" id="7" descr="Part 2 topology: PC0, Router0, Hub0 with PC1, Router1, PC2"/>
            <p:cNvSpPr/>
            <p:nvPr/>
          </p:nvSpPr>
          <p:spPr>
            <a:xfrm flipH="false" flipV="false" rot="0">
              <a:off x="0" y="0"/>
              <a:ext cx="9624950" cy="4564761"/>
            </a:xfrm>
            <a:custGeom>
              <a:avLst/>
              <a:gdLst/>
              <a:ahLst/>
              <a:cxnLst/>
              <a:rect r="r" b="b" t="t" l="l"/>
              <a:pathLst>
                <a:path h="4564761" w="9624950">
                  <a:moveTo>
                    <a:pt x="0" y="60579"/>
                  </a:moveTo>
                  <a:cubicBezTo>
                    <a:pt x="0" y="39624"/>
                    <a:pt x="4699" y="18923"/>
                    <a:pt x="13843" y="0"/>
                  </a:cubicBezTo>
                  <a:lnTo>
                    <a:pt x="9611106" y="0"/>
                  </a:lnTo>
                  <a:cubicBezTo>
                    <a:pt x="9620250" y="18923"/>
                    <a:pt x="9624950" y="39624"/>
                    <a:pt x="9624950" y="60579"/>
                  </a:cubicBezTo>
                  <a:lnTo>
                    <a:pt x="9624950" y="4504182"/>
                  </a:lnTo>
                  <a:cubicBezTo>
                    <a:pt x="9624950" y="4525137"/>
                    <a:pt x="9620250" y="4545838"/>
                    <a:pt x="9611106" y="4564761"/>
                  </a:cubicBezTo>
                  <a:lnTo>
                    <a:pt x="13843" y="4564761"/>
                  </a:lnTo>
                  <a:cubicBezTo>
                    <a:pt x="4699" y="4545838"/>
                    <a:pt x="0" y="4525137"/>
                    <a:pt x="0" y="4504182"/>
                  </a:cubicBezTo>
                  <a:close/>
                </a:path>
              </a:pathLst>
            </a:custGeom>
            <a:blipFill>
              <a:blip r:embed="rId4"/>
              <a:stretch>
                <a:fillRect l="0" t="-7" r="0" b="-8"/>
              </a:stretch>
            </a:blipFill>
          </p:spPr>
        </p:sp>
      </p:grpSp>
    </p:spTree>
  </p:cSld>
  <p:clrMapOvr>
    <a:masterClrMapping/>
  </p:clrMapOvr>
  <p:transition spd="fast">
    <p:push dir="l"/>
  </p:transition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81940"/>
            <a:ext cx="16386375" cy="2065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88"/>
              </a:lnSpc>
            </a:pPr>
          </a:p>
          <a:p>
            <a:pPr algn="just">
              <a:lnSpc>
                <a:spcPts val="8189"/>
              </a:lnSpc>
            </a:pPr>
            <a:r>
              <a:rPr lang="en-US" sz="6630" b="true">
                <a:solidFill>
                  <a:srgbClr val="F5F3EE"/>
                </a:solidFill>
                <a:latin typeface="TT Drugs Bold"/>
                <a:ea typeface="TT Drugs Bold"/>
                <a:cs typeface="TT Drugs Bold"/>
                <a:sym typeface="TT Drugs Bold"/>
              </a:rPr>
              <a:t>Lab 5: Connection_of_routers_in_series</a:t>
            </a:r>
          </a:p>
        </p:txBody>
      </p: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8727" y="2624642"/>
            <a:ext cx="8529304" cy="5286061"/>
            <a:chOff x="0" y="0"/>
            <a:chExt cx="11372406" cy="70480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372342" cy="7048119"/>
            </a:xfrm>
            <a:custGeom>
              <a:avLst/>
              <a:gdLst/>
              <a:ahLst/>
              <a:cxnLst/>
              <a:rect r="r" b="b" t="t" l="l"/>
              <a:pathLst>
                <a:path h="7048119" w="11372342">
                  <a:moveTo>
                    <a:pt x="0" y="0"/>
                  </a:moveTo>
                  <a:lnTo>
                    <a:pt x="11372342" y="0"/>
                  </a:lnTo>
                  <a:lnTo>
                    <a:pt x="11372342" y="7048119"/>
                  </a:lnTo>
                  <a:lnTo>
                    <a:pt x="0" y="7048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111431" y="2624642"/>
            <a:ext cx="7665755" cy="5286061"/>
          </a:xfrm>
          <a:custGeom>
            <a:avLst/>
            <a:gdLst/>
            <a:ahLst/>
            <a:cxnLst/>
            <a:rect r="r" b="b" t="t" l="l"/>
            <a:pathLst>
              <a:path h="5286061" w="7665755">
                <a:moveTo>
                  <a:pt x="0" y="0"/>
                </a:moveTo>
                <a:lnTo>
                  <a:pt x="7665756" y="0"/>
                </a:lnTo>
                <a:lnTo>
                  <a:pt x="7665756" y="5286061"/>
                </a:lnTo>
                <a:lnTo>
                  <a:pt x="0" y="5286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762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8727" y="1433020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1: Implement the network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699" y="305435"/>
            <a:ext cx="12463537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Expt-5: Routing through Multiple Routers in Series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73731" y="1433020"/>
            <a:ext cx="48034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2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: Router Configure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803" y="8596991"/>
            <a:ext cx="1733057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lang="en-US" sz="24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Connect the circuits.</a:t>
            </a:r>
          </a:p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lang="en-US" sz="24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Configure Routers 0, 1, and 2.</a:t>
            </a:r>
          </a:p>
          <a:p>
            <a:pPr algn="l">
              <a:lnSpc>
                <a:spcPts val="2999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89262" y="1667015"/>
            <a:ext cx="11704591" cy="2688555"/>
          </a:xfrm>
          <a:custGeom>
            <a:avLst/>
            <a:gdLst/>
            <a:ahLst/>
            <a:cxnLst/>
            <a:rect r="r" b="b" t="t" l="l"/>
            <a:pathLst>
              <a:path h="2688555" w="11704591">
                <a:moveTo>
                  <a:pt x="0" y="0"/>
                </a:moveTo>
                <a:lnTo>
                  <a:pt x="11704591" y="0"/>
                </a:lnTo>
                <a:lnTo>
                  <a:pt x="11704591" y="2688555"/>
                </a:lnTo>
                <a:lnTo>
                  <a:pt x="0" y="2688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04127" y="5973580"/>
            <a:ext cx="6679745" cy="3726024"/>
          </a:xfrm>
          <a:custGeom>
            <a:avLst/>
            <a:gdLst/>
            <a:ahLst/>
            <a:cxnLst/>
            <a:rect r="r" b="b" t="t" l="l"/>
            <a:pathLst>
              <a:path h="3726024" w="6679745">
                <a:moveTo>
                  <a:pt x="0" y="0"/>
                </a:moveTo>
                <a:lnTo>
                  <a:pt x="6679746" y="0"/>
                </a:lnTo>
                <a:lnTo>
                  <a:pt x="6679746" y="3726024"/>
                </a:lnTo>
                <a:lnTo>
                  <a:pt x="0" y="37260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4480" y="609740"/>
            <a:ext cx="945997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 3: Configuring the Routers again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04480" y="4916305"/>
            <a:ext cx="945997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 4: Configuring the PC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79334" y="2212577"/>
            <a:ext cx="13604206" cy="6171605"/>
          </a:xfrm>
          <a:custGeom>
            <a:avLst/>
            <a:gdLst/>
            <a:ahLst/>
            <a:cxnLst/>
            <a:rect r="r" b="b" t="t" l="l"/>
            <a:pathLst>
              <a:path h="6171605" w="13604206">
                <a:moveTo>
                  <a:pt x="0" y="0"/>
                </a:moveTo>
                <a:lnTo>
                  <a:pt x="13604206" y="0"/>
                </a:lnTo>
                <a:lnTo>
                  <a:pt x="13604206" y="6171605"/>
                </a:lnTo>
                <a:lnTo>
                  <a:pt x="0" y="6171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4480" y="609740"/>
            <a:ext cx="945997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 5: Verification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1744" y="3975418"/>
            <a:ext cx="17679853" cy="3104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9"/>
              </a:lnSpc>
            </a:pPr>
            <a:r>
              <a:rPr lang="en-US" sz="6630" b="true">
                <a:solidFill>
                  <a:srgbClr val="F5F3EE"/>
                </a:solidFill>
                <a:latin typeface="TT Drugs Bold"/>
                <a:ea typeface="TT Drugs Bold"/>
                <a:cs typeface="TT Drugs Bold"/>
                <a:sym typeface="TT Drugs Bold"/>
              </a:rPr>
              <a:t>Lab 6: Connections of Routers in a Complex Networks</a:t>
            </a:r>
          </a:p>
          <a:p>
            <a:pPr algn="ctr">
              <a:lnSpc>
                <a:spcPts val="8188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8727" y="2198831"/>
            <a:ext cx="10719857" cy="6175231"/>
          </a:xfrm>
          <a:custGeom>
            <a:avLst/>
            <a:gdLst/>
            <a:ahLst/>
            <a:cxnLst/>
            <a:rect r="r" b="b" t="t" l="l"/>
            <a:pathLst>
              <a:path h="6175231" w="10719857">
                <a:moveTo>
                  <a:pt x="0" y="0"/>
                </a:moveTo>
                <a:lnTo>
                  <a:pt x="10719857" y="0"/>
                </a:lnTo>
                <a:lnTo>
                  <a:pt x="10719857" y="6175231"/>
                </a:lnTo>
                <a:lnTo>
                  <a:pt x="0" y="61752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40" t="0" r="-84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43890" y="2198831"/>
            <a:ext cx="6233297" cy="2944669"/>
          </a:xfrm>
          <a:custGeom>
            <a:avLst/>
            <a:gdLst/>
            <a:ahLst/>
            <a:cxnLst/>
            <a:rect r="r" b="b" t="t" l="l"/>
            <a:pathLst>
              <a:path h="2944669" w="6233297">
                <a:moveTo>
                  <a:pt x="0" y="0"/>
                </a:moveTo>
                <a:lnTo>
                  <a:pt x="6233297" y="0"/>
                </a:lnTo>
                <a:lnTo>
                  <a:pt x="6233297" y="2944669"/>
                </a:lnTo>
                <a:lnTo>
                  <a:pt x="0" y="2944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081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43890" y="5143500"/>
            <a:ext cx="6233297" cy="3230562"/>
          </a:xfrm>
          <a:custGeom>
            <a:avLst/>
            <a:gdLst/>
            <a:ahLst/>
            <a:cxnLst/>
            <a:rect r="r" b="b" t="t" l="l"/>
            <a:pathLst>
              <a:path h="3230562" w="6233297">
                <a:moveTo>
                  <a:pt x="0" y="0"/>
                </a:moveTo>
                <a:lnTo>
                  <a:pt x="6233297" y="0"/>
                </a:lnTo>
                <a:lnTo>
                  <a:pt x="6233297" y="3230562"/>
                </a:lnTo>
                <a:lnTo>
                  <a:pt x="0" y="32305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864" r="0" b="-786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8727" y="1433020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1: Implement the network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699" y="305435"/>
            <a:ext cx="14107015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Expt-9: Routing of Packet through Complicated Network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73731" y="1433020"/>
            <a:ext cx="48034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2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: PC IP Configure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9803" y="8596991"/>
            <a:ext cx="1733057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lang="en-US" sz="24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Connect the circuits.</a:t>
            </a:r>
          </a:p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lang="en-US" sz="24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Configure PC 0,1,2,3</a:t>
            </a:r>
          </a:p>
          <a:p>
            <a:pPr algn="l">
              <a:lnSpc>
                <a:spcPts val="2999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8727" y="2145006"/>
            <a:ext cx="6727568" cy="7691272"/>
          </a:xfrm>
          <a:custGeom>
            <a:avLst/>
            <a:gdLst/>
            <a:ahLst/>
            <a:cxnLst/>
            <a:rect r="r" b="b" t="t" l="l"/>
            <a:pathLst>
              <a:path h="7691272" w="6727568">
                <a:moveTo>
                  <a:pt x="0" y="0"/>
                </a:moveTo>
                <a:lnTo>
                  <a:pt x="6727568" y="0"/>
                </a:lnTo>
                <a:lnTo>
                  <a:pt x="6727568" y="7691272"/>
                </a:lnTo>
                <a:lnTo>
                  <a:pt x="0" y="76912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34413" y="2600890"/>
            <a:ext cx="9842774" cy="6657410"/>
          </a:xfrm>
          <a:custGeom>
            <a:avLst/>
            <a:gdLst/>
            <a:ahLst/>
            <a:cxnLst/>
            <a:rect r="r" b="b" t="t" l="l"/>
            <a:pathLst>
              <a:path h="6657410" w="9842774">
                <a:moveTo>
                  <a:pt x="0" y="0"/>
                </a:moveTo>
                <a:lnTo>
                  <a:pt x="9842774" y="0"/>
                </a:lnTo>
                <a:lnTo>
                  <a:pt x="9842774" y="6657410"/>
                </a:lnTo>
                <a:lnTo>
                  <a:pt x="0" y="6657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8727" y="1433020"/>
            <a:ext cx="606649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3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: Router Configure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699" y="305435"/>
            <a:ext cx="14107015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Expt-9: Routing of Packet through Complicated Network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17211" y="1433020"/>
            <a:ext cx="1015997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4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: Verify the ping command on PC of 192.168.1.1</a:t>
            </a:r>
          </a:p>
        </p:txBody>
      </p:sp>
    </p:spTree>
  </p:cSld>
  <p:clrMapOvr>
    <a:masterClrMapping/>
  </p:clrMapOvr>
  <p:transition spd="fast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8727" y="2758607"/>
            <a:ext cx="8652333" cy="6880335"/>
          </a:xfrm>
          <a:custGeom>
            <a:avLst/>
            <a:gdLst/>
            <a:ahLst/>
            <a:cxnLst/>
            <a:rect r="r" b="b" t="t" l="l"/>
            <a:pathLst>
              <a:path h="6880335" w="8652333">
                <a:moveTo>
                  <a:pt x="0" y="0"/>
                </a:moveTo>
                <a:lnTo>
                  <a:pt x="8652333" y="0"/>
                </a:lnTo>
                <a:lnTo>
                  <a:pt x="8652333" y="6880336"/>
                </a:lnTo>
                <a:lnTo>
                  <a:pt x="0" y="68803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52564" y="8070231"/>
            <a:ext cx="8324623" cy="1054642"/>
          </a:xfrm>
          <a:custGeom>
            <a:avLst/>
            <a:gdLst/>
            <a:ahLst/>
            <a:cxnLst/>
            <a:rect r="r" b="b" t="t" l="l"/>
            <a:pathLst>
              <a:path h="1054642" w="8324623">
                <a:moveTo>
                  <a:pt x="0" y="0"/>
                </a:moveTo>
                <a:lnTo>
                  <a:pt x="8324623" y="0"/>
                </a:lnTo>
                <a:lnTo>
                  <a:pt x="8324623" y="1054642"/>
                </a:lnTo>
                <a:lnTo>
                  <a:pt x="0" y="1054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826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52564" y="3033220"/>
            <a:ext cx="8324623" cy="4810336"/>
          </a:xfrm>
          <a:custGeom>
            <a:avLst/>
            <a:gdLst/>
            <a:ahLst/>
            <a:cxnLst/>
            <a:rect r="r" b="b" t="t" l="l"/>
            <a:pathLst>
              <a:path h="4810336" w="8324623">
                <a:moveTo>
                  <a:pt x="0" y="0"/>
                </a:moveTo>
                <a:lnTo>
                  <a:pt x="8324623" y="0"/>
                </a:lnTo>
                <a:lnTo>
                  <a:pt x="8324623" y="4810336"/>
                </a:lnTo>
                <a:lnTo>
                  <a:pt x="0" y="48103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8727" y="1433020"/>
            <a:ext cx="897302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5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: Verify the tracert, ipconfg and arp –a commands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699" y="305435"/>
            <a:ext cx="14107015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Expt-9: Routing of Packet through Complicated Network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88949" y="1433020"/>
            <a:ext cx="758823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6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: Verify the packet routing from simulation mode.</a:t>
            </a:r>
          </a:p>
        </p:txBody>
      </p:sp>
    </p:spTree>
  </p:cSld>
  <p:clrMapOvr>
    <a:masterClrMapping/>
  </p:clrMapOvr>
  <p:transition spd="fast">
    <p:push dir="l"/>
  </p:transition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420553" y="4523244"/>
            <a:ext cx="17679853" cy="2065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9"/>
              </a:lnSpc>
            </a:pPr>
            <a:r>
              <a:rPr lang="en-US" sz="6630" b="true">
                <a:solidFill>
                  <a:srgbClr val="F5F3EE"/>
                </a:solidFill>
                <a:latin typeface="TT Drugs Bold"/>
                <a:ea typeface="TT Drugs Bold"/>
                <a:cs typeface="TT Drugs Bold"/>
                <a:sym typeface="TT Drugs Bold"/>
              </a:rPr>
              <a:t>Lab 7: VLAN Configurations</a:t>
            </a:r>
          </a:p>
          <a:p>
            <a:pPr algn="ctr">
              <a:lnSpc>
                <a:spcPts val="8188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46759" y="2300810"/>
            <a:ext cx="5826937" cy="5729821"/>
          </a:xfrm>
          <a:custGeom>
            <a:avLst/>
            <a:gdLst/>
            <a:ahLst/>
            <a:cxnLst/>
            <a:rect r="r" b="b" t="t" l="l"/>
            <a:pathLst>
              <a:path h="5729821" w="5826937">
                <a:moveTo>
                  <a:pt x="0" y="0"/>
                </a:moveTo>
                <a:lnTo>
                  <a:pt x="5826937" y="0"/>
                </a:lnTo>
                <a:lnTo>
                  <a:pt x="5826937" y="5729821"/>
                </a:lnTo>
                <a:lnTo>
                  <a:pt x="0" y="5729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82892" y="2300810"/>
            <a:ext cx="6570040" cy="5729821"/>
          </a:xfrm>
          <a:custGeom>
            <a:avLst/>
            <a:gdLst/>
            <a:ahLst/>
            <a:cxnLst/>
            <a:rect r="r" b="b" t="t" l="l"/>
            <a:pathLst>
              <a:path h="5729821" w="6570040">
                <a:moveTo>
                  <a:pt x="0" y="0"/>
                </a:moveTo>
                <a:lnTo>
                  <a:pt x="6570039" y="0"/>
                </a:lnTo>
                <a:lnTo>
                  <a:pt x="6570039" y="5729821"/>
                </a:lnTo>
                <a:lnTo>
                  <a:pt x="0" y="57298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8727" y="1433020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1: Implement the network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699" y="305435"/>
            <a:ext cx="14357839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Expt-7: VLAN Configuration with Layer 3 Switch and Router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73731" y="1433020"/>
            <a:ext cx="48034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2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: PC IP Configure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9803" y="8596991"/>
            <a:ext cx="1733057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lang="en-US" sz="24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Connect the circuits.</a:t>
            </a:r>
          </a:p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lang="en-US" sz="24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Configure PC 0,1,2,3</a:t>
            </a:r>
          </a:p>
          <a:p>
            <a:pPr algn="l">
              <a:lnSpc>
                <a:spcPts val="2999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1274" y="2160271"/>
            <a:ext cx="7486739" cy="7209453"/>
          </a:xfrm>
          <a:custGeom>
            <a:avLst/>
            <a:gdLst/>
            <a:ahLst/>
            <a:cxnLst/>
            <a:rect r="r" b="b" t="t" l="l"/>
            <a:pathLst>
              <a:path h="7209453" w="7486739">
                <a:moveTo>
                  <a:pt x="0" y="0"/>
                </a:moveTo>
                <a:lnTo>
                  <a:pt x="7486739" y="0"/>
                </a:lnTo>
                <a:lnTo>
                  <a:pt x="7486739" y="7209453"/>
                </a:lnTo>
                <a:lnTo>
                  <a:pt x="0" y="7209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09575" y="2160271"/>
            <a:ext cx="7486739" cy="7209453"/>
          </a:xfrm>
          <a:custGeom>
            <a:avLst/>
            <a:gdLst/>
            <a:ahLst/>
            <a:cxnLst/>
            <a:rect r="r" b="b" t="t" l="l"/>
            <a:pathLst>
              <a:path h="7209453" w="7486739">
                <a:moveTo>
                  <a:pt x="0" y="0"/>
                </a:moveTo>
                <a:lnTo>
                  <a:pt x="7486739" y="0"/>
                </a:lnTo>
                <a:lnTo>
                  <a:pt x="7486739" y="7209453"/>
                </a:lnTo>
                <a:lnTo>
                  <a:pt x="0" y="72094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8727" y="1433020"/>
            <a:ext cx="678171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3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: Switch &amp; Router Configure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699" y="305435"/>
            <a:ext cx="15187449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Expt-7: VLAN Configuration with Layer 3 Switch and Router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1433020"/>
            <a:ext cx="863318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4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: In switch observe VLAN configuration</a:t>
            </a:r>
          </a:p>
        </p:txBody>
      </p:sp>
    </p:spTree>
  </p:cSld>
  <p:clrMapOvr>
    <a:masterClrMapping/>
  </p:clrMapOvr>
  <p:transition spd="fast">
    <p:push dir="l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5417" y="2499820"/>
            <a:ext cx="15168968" cy="6922042"/>
          </a:xfrm>
          <a:custGeom>
            <a:avLst/>
            <a:gdLst/>
            <a:ahLst/>
            <a:cxnLst/>
            <a:rect r="r" b="b" t="t" l="l"/>
            <a:pathLst>
              <a:path h="6922042" w="15168968">
                <a:moveTo>
                  <a:pt x="0" y="0"/>
                </a:moveTo>
                <a:lnTo>
                  <a:pt x="15168968" y="0"/>
                </a:lnTo>
                <a:lnTo>
                  <a:pt x="15168968" y="6922041"/>
                </a:lnTo>
                <a:lnTo>
                  <a:pt x="0" y="6922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8727" y="1433020"/>
            <a:ext cx="1166649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5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: Verify the routing of packet under simulation mode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2699" y="305435"/>
            <a:ext cx="14357839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Expt-7: VLAN Configuration with Layer 3 Switch and Router</a:t>
            </a:r>
          </a:p>
        </p:txBody>
      </p:sp>
    </p:spTree>
  </p:cSld>
  <p:clrMapOvr>
    <a:masterClrMapping/>
  </p:clrMapOvr>
  <p:transition spd="fast">
    <p:push dir="l"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803" y="2380484"/>
            <a:ext cx="7278745" cy="5811968"/>
          </a:xfrm>
          <a:custGeom>
            <a:avLst/>
            <a:gdLst/>
            <a:ahLst/>
            <a:cxnLst/>
            <a:rect r="r" b="b" t="t" l="l"/>
            <a:pathLst>
              <a:path h="5811968" w="7278745">
                <a:moveTo>
                  <a:pt x="0" y="0"/>
                </a:moveTo>
                <a:lnTo>
                  <a:pt x="7278745" y="0"/>
                </a:lnTo>
                <a:lnTo>
                  <a:pt x="7278745" y="5811968"/>
                </a:lnTo>
                <a:lnTo>
                  <a:pt x="0" y="5811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50278" y="2380484"/>
            <a:ext cx="7278745" cy="5811968"/>
          </a:xfrm>
          <a:custGeom>
            <a:avLst/>
            <a:gdLst/>
            <a:ahLst/>
            <a:cxnLst/>
            <a:rect r="r" b="b" t="t" l="l"/>
            <a:pathLst>
              <a:path h="5811968" w="7278745">
                <a:moveTo>
                  <a:pt x="0" y="0"/>
                </a:moveTo>
                <a:lnTo>
                  <a:pt x="7278745" y="0"/>
                </a:lnTo>
                <a:lnTo>
                  <a:pt x="7278745" y="5811968"/>
                </a:lnTo>
                <a:lnTo>
                  <a:pt x="0" y="5811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8727" y="1433020"/>
            <a:ext cx="100230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1: Implement the network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699" y="305435"/>
            <a:ext cx="17827403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Expt-8: VLAN Configuration with Layer 3 Switch and Router using DHCP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73731" y="1433020"/>
            <a:ext cx="48034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2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: Switch Configure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9803" y="8596991"/>
            <a:ext cx="17330578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lang="en-US" sz="24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Connect the circuits.</a:t>
            </a:r>
          </a:p>
          <a:p>
            <a:pPr algn="l" marL="539749" indent="-269875" lvl="1">
              <a:lnSpc>
                <a:spcPts val="2999"/>
              </a:lnSpc>
              <a:buAutoNum type="arabicPeriod" startAt="1"/>
            </a:pPr>
            <a:r>
              <a:rPr lang="en-US" sz="24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</a:rPr>
              <a:t>Configure the switch.</a:t>
            </a:r>
          </a:p>
          <a:p>
            <a:pPr algn="l">
              <a:lnSpc>
                <a:spcPts val="2999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56709" y="2237516"/>
            <a:ext cx="9377671" cy="6271615"/>
          </a:xfrm>
          <a:custGeom>
            <a:avLst/>
            <a:gdLst/>
            <a:ahLst/>
            <a:cxnLst/>
            <a:rect r="r" b="b" t="t" l="l"/>
            <a:pathLst>
              <a:path h="6271615" w="9377671">
                <a:moveTo>
                  <a:pt x="0" y="0"/>
                </a:moveTo>
                <a:lnTo>
                  <a:pt x="9377672" y="0"/>
                </a:lnTo>
                <a:lnTo>
                  <a:pt x="9377672" y="6271615"/>
                </a:lnTo>
                <a:lnTo>
                  <a:pt x="0" y="6271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8727" y="2237516"/>
            <a:ext cx="7854395" cy="6271615"/>
          </a:xfrm>
          <a:custGeom>
            <a:avLst/>
            <a:gdLst/>
            <a:ahLst/>
            <a:cxnLst/>
            <a:rect r="r" b="b" t="t" l="l"/>
            <a:pathLst>
              <a:path h="6271615" w="7854395">
                <a:moveTo>
                  <a:pt x="0" y="0"/>
                </a:moveTo>
                <a:lnTo>
                  <a:pt x="7854394" y="0"/>
                </a:lnTo>
                <a:lnTo>
                  <a:pt x="7854394" y="6271615"/>
                </a:lnTo>
                <a:lnTo>
                  <a:pt x="0" y="62716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8727" y="1433020"/>
            <a:ext cx="606649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3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: Router Configure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699" y="305435"/>
            <a:ext cx="17850492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Expt-8: VLAN Configuration with Layer 3 Switch and Router using DHCP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73731" y="1433020"/>
            <a:ext cx="48034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4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: PC IP Configure</a:t>
            </a:r>
          </a:p>
        </p:txBody>
      </p:sp>
    </p:spTree>
  </p:cSld>
  <p:clrMapOvr>
    <a:masterClrMapping/>
  </p:clrMapOvr>
  <p:transition spd="fast">
    <p:push dir="l"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05417" y="2499820"/>
            <a:ext cx="15168968" cy="6922042"/>
          </a:xfrm>
          <a:custGeom>
            <a:avLst/>
            <a:gdLst/>
            <a:ahLst/>
            <a:cxnLst/>
            <a:rect r="r" b="b" t="t" l="l"/>
            <a:pathLst>
              <a:path h="6922042" w="15168968">
                <a:moveTo>
                  <a:pt x="0" y="0"/>
                </a:moveTo>
                <a:lnTo>
                  <a:pt x="15168968" y="0"/>
                </a:lnTo>
                <a:lnTo>
                  <a:pt x="15168968" y="6922041"/>
                </a:lnTo>
                <a:lnTo>
                  <a:pt x="0" y="69220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88727" y="1433020"/>
            <a:ext cx="1166649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STEP 5</a:t>
            </a:r>
            <a:r>
              <a:rPr lang="en-US" b="true" sz="3000">
                <a:solidFill>
                  <a:srgbClr val="3E72A6"/>
                </a:solidFill>
                <a:latin typeface="TT Drugs Bold"/>
                <a:ea typeface="TT Drugs Bold"/>
                <a:cs typeface="TT Drugs Bold"/>
                <a:sym typeface="TT Drugs Bold"/>
              </a:rPr>
              <a:t>: Verify the flow of packet in simulation mode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2699" y="305435"/>
            <a:ext cx="17705664" cy="65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gradFill>
                  <a:gsLst>
                    <a:gs pos="0">
                      <a:srgbClr val="001924">
                        <a:alpha val="100000"/>
                      </a:srgbClr>
                    </a:gs>
                    <a:gs pos="100000">
                      <a:srgbClr val="050417">
                        <a:alpha val="100000"/>
                      </a:srgbClr>
                    </a:gs>
                  </a:gsLst>
                  <a:lin ang="2700000"/>
                </a:gradFill>
                <a:latin typeface="TT Drugs Bold"/>
                <a:ea typeface="TT Drugs Bold"/>
                <a:cs typeface="TT Drugs Bold"/>
                <a:sym typeface="TT Drugs Bold"/>
              </a:rPr>
              <a:t>Expt-8: VLAN Configuration with Layer 3 Switch and Router using DHCP</a:t>
            </a:r>
          </a:p>
        </p:txBody>
      </p:sp>
    </p:spTree>
  </p:cSld>
  <p:clrMapOvr>
    <a:masterClrMapping/>
  </p:clrMapOvr>
  <p:transition spd="fast">
    <p:push dir="l"/>
  </p:transition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1924">
                <a:alpha val="100000"/>
              </a:srgbClr>
            </a:gs>
            <a:gs pos="100000">
              <a:srgbClr val="05041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9485" y="3578856"/>
            <a:ext cx="13129030" cy="280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19"/>
              </a:lnSpc>
              <a:spcBef>
                <a:spcPct val="0"/>
              </a:spcBef>
            </a:pPr>
            <a:r>
              <a:rPr lang="en-US" sz="16299">
                <a:solidFill>
                  <a:srgbClr val="4D91AA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THANK YOU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DAHX_9bqCgY</dc:identifier>
  <dcterms:modified xsi:type="dcterms:W3CDTF">2011-08-01T06:04:30Z</dcterms:modified>
  <cp:revision>1</cp:revision>
  <dc:title>CN.pptx</dc:title>
</cp:coreProperties>
</file>